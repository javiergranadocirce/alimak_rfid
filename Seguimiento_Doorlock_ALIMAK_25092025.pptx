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0"/>
  </p:notesMasterIdLst>
  <p:sldIdLst>
    <p:sldId id="256" r:id="rId2"/>
    <p:sldId id="296" r:id="rId3"/>
    <p:sldId id="298" r:id="rId4"/>
    <p:sldId id="297" r:id="rId5"/>
    <p:sldId id="328" r:id="rId6"/>
    <p:sldId id="299" r:id="rId7"/>
    <p:sldId id="324" r:id="rId8"/>
    <p:sldId id="311" r:id="rId9"/>
    <p:sldId id="312" r:id="rId10"/>
    <p:sldId id="313" r:id="rId11"/>
    <p:sldId id="307" r:id="rId12"/>
    <p:sldId id="314" r:id="rId13"/>
    <p:sldId id="323" r:id="rId14"/>
    <p:sldId id="325" r:id="rId15"/>
    <p:sldId id="326" r:id="rId16"/>
    <p:sldId id="327" r:id="rId17"/>
    <p:sldId id="315" r:id="rId18"/>
    <p:sldId id="306" r:id="rId19"/>
    <p:sldId id="321" r:id="rId20"/>
    <p:sldId id="316" r:id="rId21"/>
    <p:sldId id="317" r:id="rId22"/>
    <p:sldId id="318" r:id="rId23"/>
    <p:sldId id="322" r:id="rId24"/>
    <p:sldId id="319" r:id="rId25"/>
    <p:sldId id="320" r:id="rId26"/>
    <p:sldId id="330" r:id="rId27"/>
    <p:sldId id="329" r:id="rId28"/>
    <p:sldId id="274" r:id="rId2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2838BEF-8BB2-4498-84A7-C5851F593DF1}" styleName="Estilo medio 4 - Énfasis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08FB837D-C827-4EFA-A057-4D05807E0F7C}" styleName="Estilo temático 1 - Énfasis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Estilo temático 1 - Énfasis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C2FFA5D-87B4-456A-9821-1D502468CF0F}" styleName="Estilo temático 1 - Énfasis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3777" autoAdjust="0"/>
  </p:normalViewPr>
  <p:slideViewPr>
    <p:cSldViewPr>
      <p:cViewPr varScale="1">
        <p:scale>
          <a:sx n="93" d="100"/>
          <a:sy n="93" d="100"/>
        </p:scale>
        <p:origin x="1236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AD0C18-F4F1-4FE9-AF10-17962C24165B}" type="datetimeFigureOut">
              <a:rPr lang="es-ES" smtClean="0"/>
              <a:t>25/09/2025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EDEB3D-9BEC-4BEC-B22B-D1208B4020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16877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724074-E27E-61A7-0C56-5FC937E35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33A0D53-CFD1-374A-52C3-AE6F291CDB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86B60C3-7CBA-CD13-60DF-5D9BC0CDAD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C643F65-46CC-E174-CA61-1CEE09B89F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EDEB3D-9BEC-4BEC-B22B-D1208B4020C5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239535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E062B9-16E5-C7B1-27FF-EF0E9F776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09035AA-6D4B-4169-7C45-759F8F9E3E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4CFE380-01B7-4E74-EEAD-F70BACDB21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39448E3-999C-5ABD-6139-294EDC6569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EDEB3D-9BEC-4BEC-B22B-D1208B4020C5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868965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220F8-6710-1BB1-D527-F649C55AB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499D726-8790-92AD-97C1-204841C79C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76380C5-4861-4B85-822A-0E951E1E05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E3079C3-5C80-B019-8D6C-A01AFA0551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EDEB3D-9BEC-4BEC-B22B-D1208B4020C5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062912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6D5A1-CF31-DBAC-45AC-90A874D6C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FE39BA3-5532-8A70-FEC8-D3AD1375D4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96651B9-D51B-3345-BB23-52A5861CCA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F926DC5-D840-56BD-B69D-CA38F74076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EDEB3D-9BEC-4BEC-B22B-D1208B4020C5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851410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15AB6-510A-AFC7-7E8E-FC3603E0B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3681D14-0FBF-4C4E-A634-D128A5E7B9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C56113A-ED27-E30B-164D-35DB333B73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1FFCEA6-906E-A0A6-AF00-301F8BCEBB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EDEB3D-9BEC-4BEC-B22B-D1208B4020C5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513044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2332A3-092A-68C1-41E2-B171AECAC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3DA47C3-0EDD-0C23-7AFD-ED8C0F9AA2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89EF472-649E-06EB-69D8-636AEB5B2B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E0C4372-2B16-F43E-0453-342AC63DA3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EDEB3D-9BEC-4BEC-B22B-D1208B4020C5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450644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C31C5-B537-4A88-76B4-CC020960F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BB5EBAA-75D3-44EA-3743-ACAC684CF2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9FF1C4C-F1A5-8D81-F997-ED6514978C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b="1" dirty="0" err="1"/>
              <a:t>Slide</a:t>
            </a:r>
            <a:r>
              <a:rPr lang="es-ES" b="1" dirty="0"/>
              <a:t> 1 – Introducción</a:t>
            </a:r>
          </a:p>
          <a:p>
            <a:r>
              <a:rPr lang="es-ES" dirty="0"/>
              <a:t>La función de seguridad que queremos justificar es que el ascensor solo pueda moverse si la puerta está cerrada y bloqueada.</a:t>
            </a:r>
            <a:br>
              <a:rPr lang="es-ES" dirty="0"/>
            </a:br>
            <a:r>
              <a:rPr lang="es-ES" dirty="0"/>
              <a:t>El nivel de riesgo que exige la normativa, tras el análisis, es un </a:t>
            </a:r>
            <a:r>
              <a:rPr lang="es-ES" dirty="0" err="1"/>
              <a:t>PLd</a:t>
            </a:r>
            <a:r>
              <a:rPr lang="es-ES" dirty="0"/>
              <a:t> según la ISO 13849-1. Toda la justificación que presentamos gira en torno a demostrar que llegamos a </a:t>
            </a:r>
            <a:r>
              <a:rPr lang="es-ES" dirty="0" err="1"/>
              <a:t>PLd</a:t>
            </a:r>
            <a:r>
              <a:rPr lang="es-ES" dirty="0"/>
              <a:t>.”</a:t>
            </a:r>
          </a:p>
          <a:p>
            <a:endParaRPr lang="es-ES" dirty="0"/>
          </a:p>
          <a:p>
            <a:r>
              <a:rPr lang="es-ES" dirty="0" err="1"/>
              <a:t>Elpunto</a:t>
            </a:r>
            <a:r>
              <a:rPr lang="es-ES" dirty="0"/>
              <a:t> de partida es el </a:t>
            </a:r>
            <a:r>
              <a:rPr lang="es-ES" b="1" dirty="0"/>
              <a:t>riesgo-</a:t>
            </a:r>
            <a:r>
              <a:rPr lang="es-ES" b="1" dirty="0" err="1"/>
              <a:t>graph</a:t>
            </a:r>
            <a:r>
              <a:rPr lang="es-ES" dirty="0"/>
              <a:t>, que marca </a:t>
            </a:r>
            <a:r>
              <a:rPr lang="es-ES" dirty="0" err="1"/>
              <a:t>PLr</a:t>
            </a:r>
            <a:r>
              <a:rPr lang="es-ES" dirty="0"/>
              <a:t> = d.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60F2964-3673-875B-929A-4B93C5E1BC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EDEB3D-9BEC-4BEC-B22B-D1208B4020C5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182898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BD5379-30E5-29B3-8F01-F1AAC0FBA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2F1939E-C1DF-D75C-3C56-CAB6D325D1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33961F6-D5C5-285C-3273-16C0310B8B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Hemos dividido la función en dos:</a:t>
            </a:r>
          </a:p>
          <a:p>
            <a:r>
              <a:rPr lang="es-ES" dirty="0"/>
              <a:t>Detección de puerta cerrada con RFID.</a:t>
            </a:r>
          </a:p>
          <a:p>
            <a:r>
              <a:rPr lang="es-ES" dirty="0"/>
              <a:t>Detección de bloqueo con dos sensores Hall redundantes.</a:t>
            </a:r>
            <a:br>
              <a:rPr lang="es-ES" dirty="0"/>
            </a:br>
            <a:r>
              <a:rPr lang="es-ES" dirty="0"/>
              <a:t>Ambas señales se procesan en el MCU de seguridad, que activa salidas OSSD si se cumplen las dos condiciones.</a:t>
            </a:r>
          </a:p>
          <a:p>
            <a:endParaRPr lang="es-ES" dirty="0"/>
          </a:p>
          <a:p>
            <a:r>
              <a:rPr lang="es-ES" dirty="0"/>
              <a:t>Aquí se demuestra que se ha descompuesto la función global en </a:t>
            </a:r>
            <a:r>
              <a:rPr lang="es-ES" b="1" dirty="0"/>
              <a:t>subfunciones</a:t>
            </a:r>
            <a:r>
              <a:rPr lang="es-ES" dirty="0"/>
              <a:t> (permitido por §5.5 de la 13849-1:2024).</a:t>
            </a:r>
          </a:p>
          <a:p>
            <a:endParaRPr lang="es-ES" dirty="0"/>
          </a:p>
          <a:p>
            <a:endParaRPr lang="es-ES" dirty="0"/>
          </a:p>
          <a:p>
            <a:r>
              <a:rPr lang="es-ES" i="1" dirty="0"/>
              <a:t>“Conformidad de la salida del dispositivo de bloqueo con ISO 13849-1”</a:t>
            </a:r>
            <a:r>
              <a:rPr lang="es-ES" dirty="0"/>
              <a:t> quiere decir:</a:t>
            </a:r>
          </a:p>
          <a:p>
            <a:r>
              <a:rPr lang="es-ES" dirty="0"/>
              <a:t>Que las </a:t>
            </a:r>
            <a:r>
              <a:rPr lang="es-ES" b="1" dirty="0"/>
              <a:t>salidas del  sistema de bloqueo (RFID + Hall redundantes)</a:t>
            </a:r>
            <a:r>
              <a:rPr lang="es-ES" dirty="0"/>
              <a:t> no se evalúan aisladas, sino como parte de la </a:t>
            </a:r>
            <a:r>
              <a:rPr lang="es-ES" b="1" dirty="0"/>
              <a:t>función de seguridad combinada</a:t>
            </a:r>
            <a:r>
              <a:rPr lang="es-ES" dirty="0"/>
              <a:t>.</a:t>
            </a:r>
          </a:p>
          <a:p>
            <a:r>
              <a:rPr lang="es-ES" dirty="0"/>
              <a:t>Que la </a:t>
            </a:r>
            <a:r>
              <a:rPr lang="es-ES" b="1" dirty="0"/>
              <a:t>adecuación normativa</a:t>
            </a:r>
            <a:r>
              <a:rPr lang="es-ES" dirty="0"/>
              <a:t> se demuestra con los cálculos de </a:t>
            </a:r>
            <a:r>
              <a:rPr lang="es-ES" b="1" dirty="0"/>
              <a:t>Categoría, </a:t>
            </a:r>
            <a:r>
              <a:rPr lang="es-ES" b="1" dirty="0" err="1"/>
              <a:t>MTTFd</a:t>
            </a:r>
            <a:r>
              <a:rPr lang="es-ES" b="1" dirty="0"/>
              <a:t>, </a:t>
            </a:r>
            <a:r>
              <a:rPr lang="es-ES" b="1" dirty="0" err="1"/>
              <a:t>DCavg</a:t>
            </a:r>
            <a:r>
              <a:rPr lang="es-ES" b="1" dirty="0"/>
              <a:t> y CCF</a:t>
            </a:r>
            <a:r>
              <a:rPr lang="es-ES" dirty="0"/>
              <a:t> según </a:t>
            </a:r>
            <a:r>
              <a:rPr lang="es-ES" b="1" dirty="0"/>
              <a:t>ISO 13849-1</a:t>
            </a:r>
            <a:r>
              <a:rPr lang="es-ES" dirty="0"/>
              <a:t>.</a:t>
            </a:r>
          </a:p>
          <a:p>
            <a:r>
              <a:rPr lang="es-ES" dirty="0"/>
              <a:t>Que, por tanto, se cumple con el requisito de la ISO 14119 §5.5: el enclavamiento está correctamente integrado en el sistema de mando de seguridad.</a:t>
            </a:r>
          </a:p>
          <a:p>
            <a:endParaRPr lang="es-ES" dirty="0"/>
          </a:p>
          <a:p>
            <a:endParaRPr lang="es-ES" dirty="0"/>
          </a:p>
          <a:p>
            <a:r>
              <a:rPr lang="es-ES" b="1" dirty="0"/>
              <a:t>“Sistema de salida del dispositivo de enclavamiento”</a:t>
            </a:r>
            <a:br>
              <a:rPr lang="es-ES" dirty="0"/>
            </a:br>
            <a:r>
              <a:rPr lang="es-ES" dirty="0"/>
              <a:t> - Se refiere a lo que entregan tus sensores al sistema de mando:</a:t>
            </a:r>
          </a:p>
          <a:p>
            <a:r>
              <a:rPr lang="es-ES" dirty="0"/>
              <a:t>En nuestro caso: la señal lógica de </a:t>
            </a:r>
            <a:r>
              <a:rPr lang="es-ES" i="1" dirty="0"/>
              <a:t>“puerta cerrada”</a:t>
            </a:r>
            <a:r>
              <a:rPr lang="es-ES" dirty="0"/>
              <a:t> (RFID) + las señales de </a:t>
            </a:r>
            <a:r>
              <a:rPr lang="es-ES" i="1" dirty="0"/>
              <a:t>“bloqueo aplicado”</a:t>
            </a:r>
            <a:r>
              <a:rPr lang="es-ES" dirty="0"/>
              <a:t> (Hall redundantes).</a:t>
            </a:r>
          </a:p>
          <a:p>
            <a:r>
              <a:rPr lang="es-ES" dirty="0"/>
              <a:t>Estas señales terminan entrando al </a:t>
            </a:r>
            <a:r>
              <a:rPr lang="es-ES" b="1" dirty="0"/>
              <a:t>SRP/CS</a:t>
            </a:r>
            <a:r>
              <a:rPr lang="es-ES" dirty="0"/>
              <a:t> (Safety-</a:t>
            </a:r>
            <a:r>
              <a:rPr lang="es-ES" dirty="0" err="1"/>
              <a:t>Related</a:t>
            </a:r>
            <a:r>
              <a:rPr lang="es-ES" dirty="0"/>
              <a:t> </a:t>
            </a:r>
            <a:r>
              <a:rPr lang="es-ES" dirty="0" err="1"/>
              <a:t>Parts</a:t>
            </a:r>
            <a:r>
              <a:rPr lang="es-ES" dirty="0"/>
              <a:t> of Control System), es decir, al circuito de seguridad que gobierna la máquina.</a:t>
            </a:r>
          </a:p>
          <a:p>
            <a:r>
              <a:rPr lang="es-ES" b="1" dirty="0"/>
              <a:t>“Debe ser adecuado para su integración”</a:t>
            </a:r>
            <a:br>
              <a:rPr lang="es-ES" dirty="0"/>
            </a:br>
            <a:r>
              <a:rPr lang="es-ES" dirty="0"/>
              <a:t> - No basta con que el enclavamiento físico funcione: sus </a:t>
            </a:r>
            <a:r>
              <a:rPr lang="es-ES" b="1" dirty="0"/>
              <a:t>salidas eléctricas/lógicas</a:t>
            </a:r>
            <a:r>
              <a:rPr lang="es-ES" dirty="0"/>
              <a:t> tienen que cumplir las mismas exigencias que el resto del sistema de seguridad.</a:t>
            </a:r>
          </a:p>
          <a:p>
            <a:r>
              <a:rPr lang="es-ES" dirty="0"/>
              <a:t>Ejemplo: Si el cliente exige PL d, las salidas del RFID y los Hall tienen que integrarse de modo que, combinadas, puedan demostrar PL d.</a:t>
            </a:r>
          </a:p>
          <a:p>
            <a:r>
              <a:rPr lang="es-ES" b="1" dirty="0"/>
              <a:t>Referencia cruzada con ISO 13849-1 o IEC 62061</a:t>
            </a:r>
            <a:br>
              <a:rPr lang="es-ES" dirty="0"/>
            </a:br>
            <a:r>
              <a:rPr lang="es-ES" dirty="0"/>
              <a:t> - La norma </a:t>
            </a:r>
            <a:r>
              <a:rPr lang="es-ES" b="1" dirty="0"/>
              <a:t>14119</a:t>
            </a:r>
            <a:r>
              <a:rPr lang="es-ES" dirty="0"/>
              <a:t> regula los </a:t>
            </a:r>
            <a:r>
              <a:rPr lang="es-ES" b="1" dirty="0"/>
              <a:t>dispositivos de enclavamiento</a:t>
            </a:r>
            <a:r>
              <a:rPr lang="es-ES" dirty="0"/>
              <a:t> (cómo se diseñan, cómo deben bloquear, cómo deben evitar el bypass, etc.).</a:t>
            </a:r>
            <a:br>
              <a:rPr lang="es-ES" dirty="0"/>
            </a:br>
            <a:r>
              <a:rPr lang="es-ES" dirty="0"/>
              <a:t> - Pero </a:t>
            </a:r>
            <a:r>
              <a:rPr lang="es-ES" b="1" dirty="0"/>
              <a:t>no define directamente el PL</a:t>
            </a:r>
            <a:r>
              <a:rPr lang="es-ES" dirty="0"/>
              <a:t>. Por eso te remite a la </a:t>
            </a:r>
            <a:r>
              <a:rPr lang="es-ES" b="1" dirty="0"/>
              <a:t>13849-1</a:t>
            </a:r>
            <a:r>
              <a:rPr lang="es-ES" dirty="0"/>
              <a:t> (categorías, </a:t>
            </a:r>
            <a:r>
              <a:rPr lang="es-ES" dirty="0" err="1"/>
              <a:t>MTTFd</a:t>
            </a:r>
            <a:r>
              <a:rPr lang="es-ES" dirty="0"/>
              <a:t>, </a:t>
            </a:r>
            <a:r>
              <a:rPr lang="es-ES" dirty="0" err="1"/>
              <a:t>DCavg</a:t>
            </a:r>
            <a:r>
              <a:rPr lang="es-ES" dirty="0"/>
              <a:t>, CCF) o a la </a:t>
            </a:r>
            <a:r>
              <a:rPr lang="es-ES" b="1" dirty="0"/>
              <a:t>IEC 62061</a:t>
            </a:r>
            <a:r>
              <a:rPr lang="es-ES" dirty="0"/>
              <a:t> (SIL).</a:t>
            </a:r>
          </a:p>
          <a:p>
            <a:r>
              <a:rPr lang="es-ES" dirty="0"/>
              <a:t>En nuestro caso ya trabajamos con ISO 13849-1:2024 y estamos justificando PL d.</a:t>
            </a:r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BF6451A-E57B-E1F9-A7D8-8107840A06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EDEB3D-9BEC-4BEC-B22B-D1208B4020C5}" type="slidenum">
              <a:rPr lang="es-ES" smtClean="0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005733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21717-27D3-39FE-513F-24428CAAF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8B849AE-0397-2B78-A42F-442C114731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5A07501-F169-B2BE-7C0C-B05F38A01B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 err="1"/>
              <a:t>MTTFd</a:t>
            </a:r>
            <a:r>
              <a:rPr lang="es-ES" dirty="0"/>
              <a:t> significa “tiempo medio hasta un fallo peligroso”.</a:t>
            </a:r>
            <a:br>
              <a:rPr lang="es-ES" dirty="0"/>
            </a:br>
            <a:r>
              <a:rPr lang="es-ES" dirty="0"/>
              <a:t>RFID: asignamos 10 años por prudencia, hasta que el fabricante dé datos.</a:t>
            </a:r>
            <a:br>
              <a:rPr lang="es-ES" dirty="0"/>
            </a:br>
            <a:r>
              <a:rPr lang="es-ES" dirty="0"/>
              <a:t>Sensores Hall: típicamente alcanzan 60 años, limitado a 100 años por norma.</a:t>
            </a:r>
            <a:br>
              <a:rPr lang="es-ES" dirty="0"/>
            </a:br>
            <a:r>
              <a:rPr lang="es-ES" dirty="0"/>
              <a:t>Esto nos permite justificar un nivel de fiabilidad alto.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610A864-B4B3-363A-B243-4C1DF3793D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EDEB3D-9BEC-4BEC-B22B-D1208B4020C5}" type="slidenum">
              <a:rPr lang="es-ES" smtClean="0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737305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42F8C-B5D6-29FA-187D-80D1ABCBC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4901176-12E8-EB14-1172-DE5805EA6A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BCED5E3-3AA8-2E15-5C9E-9EF6F508A1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8433C27-371E-5C71-3597-CBCB968A08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EDEB3D-9BEC-4BEC-B22B-D1208B4020C5}" type="slidenum">
              <a:rPr lang="es-ES" smtClean="0"/>
              <a:t>11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535733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3284F-3DEB-A02A-1EAD-4F584C01B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37DA40F-5C7F-D593-FD50-4A8188CCB5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6128372-E897-ED25-E1AD-74BB0FF2B2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El </a:t>
            </a:r>
            <a:r>
              <a:rPr lang="es-ES" dirty="0" err="1"/>
              <a:t>DCavg</a:t>
            </a:r>
            <a:r>
              <a:rPr lang="es-ES" dirty="0"/>
              <a:t> mide la capacidad de diagnóstico.</a:t>
            </a:r>
            <a:br>
              <a:rPr lang="es-ES" dirty="0"/>
            </a:br>
            <a:r>
              <a:rPr lang="es-ES" dirty="0"/>
              <a:t>En Hall redundantes: diagnóstico de coherencia, supervisión de fallos de línea → DC medio/alto.</a:t>
            </a:r>
            <a:br>
              <a:rPr lang="es-ES" dirty="0"/>
            </a:br>
            <a:r>
              <a:rPr lang="es-ES" dirty="0"/>
              <a:t>En RFID: añadimos supervisión de tiempo y plausibilidad de código → DC medio.</a:t>
            </a:r>
            <a:endParaRPr lang="es-ES" b="1" dirty="0"/>
          </a:p>
          <a:p>
            <a:endParaRPr lang="es-ES" b="1" dirty="0"/>
          </a:p>
          <a:p>
            <a:r>
              <a:rPr lang="es-ES" b="1" dirty="0"/>
              <a:t>Qué es el </a:t>
            </a:r>
            <a:r>
              <a:rPr lang="es-ES" b="1" dirty="0" err="1"/>
              <a:t>DCavg</a:t>
            </a:r>
            <a:endParaRPr lang="es-ES" b="1" dirty="0"/>
          </a:p>
          <a:p>
            <a:r>
              <a:rPr lang="es-ES" b="1" dirty="0"/>
              <a:t>DC (</a:t>
            </a:r>
            <a:r>
              <a:rPr lang="es-ES" b="1" dirty="0" err="1"/>
              <a:t>Diagnostic</a:t>
            </a:r>
            <a:r>
              <a:rPr lang="es-ES" b="1" dirty="0"/>
              <a:t> </a:t>
            </a:r>
            <a:r>
              <a:rPr lang="es-ES" b="1" dirty="0" err="1"/>
              <a:t>Coverage</a:t>
            </a:r>
            <a:r>
              <a:rPr lang="es-ES" b="1" dirty="0"/>
              <a:t>)</a:t>
            </a:r>
            <a:r>
              <a:rPr lang="es-ES" dirty="0"/>
              <a:t> = proporción de fallos peligrosos que </a:t>
            </a:r>
            <a:r>
              <a:rPr lang="es-ES" b="1" dirty="0"/>
              <a:t>sí son detectados</a:t>
            </a:r>
            <a:r>
              <a:rPr lang="es-ES" dirty="0"/>
              <a:t> por tu sistema de diagnóstico.</a:t>
            </a:r>
          </a:p>
          <a:p>
            <a:r>
              <a:rPr lang="es-ES" b="1" dirty="0" err="1"/>
              <a:t>DCavg</a:t>
            </a:r>
            <a:r>
              <a:rPr lang="es-ES" dirty="0"/>
              <a:t> = valor global medio de diagnóstico para el subsistema (sensor + lógica + cableado).</a:t>
            </a:r>
          </a:p>
          <a:p>
            <a:r>
              <a:rPr lang="es-ES" dirty="0"/>
              <a:t>Se expresa en </a:t>
            </a:r>
            <a:r>
              <a:rPr lang="es-ES" b="1" dirty="0"/>
              <a:t>%</a:t>
            </a:r>
            <a:r>
              <a:rPr lang="es-ES" dirty="0"/>
              <a:t>, y la ISO 13849-1 lo clasifica en niveles:</a:t>
            </a:r>
          </a:p>
          <a:p>
            <a:pPr lvl="1"/>
            <a:r>
              <a:rPr lang="es-ES" b="1" dirty="0"/>
              <a:t>Bajo</a:t>
            </a:r>
            <a:r>
              <a:rPr lang="es-ES" dirty="0"/>
              <a:t>: &lt; 60 %</a:t>
            </a:r>
          </a:p>
          <a:p>
            <a:pPr lvl="1"/>
            <a:r>
              <a:rPr lang="es-ES" b="1" dirty="0"/>
              <a:t>Medio</a:t>
            </a:r>
            <a:r>
              <a:rPr lang="es-ES" dirty="0"/>
              <a:t>: 60–90 %</a:t>
            </a:r>
          </a:p>
          <a:p>
            <a:pPr lvl="1"/>
            <a:r>
              <a:rPr lang="es-ES" b="1" dirty="0"/>
              <a:t>Alto</a:t>
            </a:r>
            <a:r>
              <a:rPr lang="es-ES" dirty="0"/>
              <a:t>: &gt; 90 %</a:t>
            </a:r>
          </a:p>
          <a:p>
            <a:r>
              <a:rPr lang="es-ES" dirty="0"/>
              <a:t>Está en la </a:t>
            </a:r>
            <a:r>
              <a:rPr lang="es-ES" b="1" dirty="0"/>
              <a:t>UNE-EN ISO 13849-1:2024, Anexo E</a:t>
            </a:r>
            <a:r>
              <a:rPr lang="es-ES" dirty="0"/>
              <a:t>.</a:t>
            </a:r>
          </a:p>
          <a:p>
            <a:r>
              <a:rPr lang="es-ES" b="1" dirty="0"/>
              <a:t>2. Cómo se determina</a:t>
            </a:r>
          </a:p>
          <a:p>
            <a:r>
              <a:rPr lang="es-ES" dirty="0"/>
              <a:t>No se mide directamente → se </a:t>
            </a:r>
            <a:r>
              <a:rPr lang="es-ES" b="1" dirty="0"/>
              <a:t>justifica documentando</a:t>
            </a:r>
            <a:r>
              <a:rPr lang="es-ES" dirty="0"/>
              <a:t>:</a:t>
            </a:r>
          </a:p>
          <a:p>
            <a:r>
              <a:rPr lang="es-ES" dirty="0"/>
              <a:t>Identificas los </a:t>
            </a:r>
            <a:r>
              <a:rPr lang="es-ES" b="1" dirty="0"/>
              <a:t>modos de fallo peligrosos</a:t>
            </a:r>
            <a:r>
              <a:rPr lang="es-ES" dirty="0"/>
              <a:t> del subsistema (</a:t>
            </a:r>
            <a:r>
              <a:rPr lang="es-ES" dirty="0" err="1"/>
              <a:t>ej</a:t>
            </a:r>
            <a:r>
              <a:rPr lang="es-ES" dirty="0"/>
              <a:t>: sensor Hall queda atascado en “cerrado”).</a:t>
            </a:r>
          </a:p>
          <a:p>
            <a:r>
              <a:rPr lang="es-ES" dirty="0"/>
              <a:t>Indicas qué </a:t>
            </a:r>
            <a:r>
              <a:rPr lang="es-ES" b="1" dirty="0"/>
              <a:t>mecanismos de diagnóstico</a:t>
            </a:r>
            <a:r>
              <a:rPr lang="es-ES" dirty="0"/>
              <a:t> existen para detectar esos fallos (</a:t>
            </a:r>
            <a:r>
              <a:rPr lang="es-ES" dirty="0" err="1"/>
              <a:t>ej</a:t>
            </a:r>
            <a:r>
              <a:rPr lang="es-ES" dirty="0"/>
              <a:t>: comparar dos Hall redundantes).</a:t>
            </a:r>
          </a:p>
          <a:p>
            <a:r>
              <a:rPr lang="es-ES" dirty="0"/>
              <a:t>Estimas qué proporción de los fallos peligrosos son </a:t>
            </a:r>
            <a:r>
              <a:rPr lang="es-ES" b="1" dirty="0"/>
              <a:t>detectados antes de que puedan causar un accidente</a:t>
            </a:r>
            <a:r>
              <a:rPr lang="es-ES" dirty="0"/>
              <a:t>.</a:t>
            </a:r>
          </a:p>
          <a:p>
            <a:r>
              <a:rPr lang="es-ES" dirty="0"/>
              <a:t>Ejemplo de fuentes:</a:t>
            </a:r>
          </a:p>
          <a:p>
            <a:r>
              <a:rPr lang="es-ES" b="1" dirty="0"/>
              <a:t>Tablas orientativas de la ISO 13849-1, Anexo E</a:t>
            </a:r>
            <a:r>
              <a:rPr lang="es-ES" dirty="0"/>
              <a:t> → dan rangos de DC para distintas técnicas de diagnóstico.</a:t>
            </a:r>
          </a:p>
          <a:p>
            <a:r>
              <a:rPr lang="es-ES" b="1" dirty="0"/>
              <a:t>FMEDA del fabricante</a:t>
            </a:r>
            <a:r>
              <a:rPr lang="es-ES" dirty="0"/>
              <a:t> → si te lo da, puedes usarlo como dato más exacto.</a:t>
            </a:r>
          </a:p>
          <a:p>
            <a:r>
              <a:rPr lang="es-ES" b="1" dirty="0"/>
              <a:t>Tu análisis</a:t>
            </a:r>
            <a:r>
              <a:rPr lang="es-ES" dirty="0"/>
              <a:t> → si no hay datos, describes cómo tu lógica supervisa el fallo y justificas un rango (p. ej. DC medio).</a:t>
            </a:r>
          </a:p>
          <a:p>
            <a:r>
              <a:rPr lang="es-ES" b="1" dirty="0"/>
              <a:t>3. Aplicación a tus subsistemas</a:t>
            </a:r>
          </a:p>
          <a:p>
            <a:r>
              <a:rPr lang="es-ES" b="1" dirty="0"/>
              <a:t>Subsistema RFID (puerta cerrada)</a:t>
            </a:r>
          </a:p>
          <a:p>
            <a:r>
              <a:rPr lang="es-ES" b="1" dirty="0"/>
              <a:t>Fallos peligrosos típicos</a:t>
            </a:r>
            <a:r>
              <a:rPr lang="es-ES" dirty="0"/>
              <a:t>:</a:t>
            </a:r>
          </a:p>
          <a:p>
            <a:pPr lvl="1"/>
            <a:r>
              <a:rPr lang="es-ES" dirty="0"/>
              <a:t>No detecta el tag cuando la puerta está cerrada.</a:t>
            </a:r>
          </a:p>
          <a:p>
            <a:pPr lvl="1"/>
            <a:r>
              <a:rPr lang="es-ES" dirty="0"/>
              <a:t>Detecta el tag aunque no esté presente (falso positivo).</a:t>
            </a:r>
          </a:p>
          <a:p>
            <a:pPr lvl="1"/>
            <a:r>
              <a:rPr lang="es-ES" dirty="0"/>
              <a:t>Señal atascada en “activo”.</a:t>
            </a:r>
          </a:p>
          <a:p>
            <a:r>
              <a:rPr lang="es-ES" b="1" dirty="0"/>
              <a:t>Medidas de diagnóstico posibles</a:t>
            </a:r>
            <a:r>
              <a:rPr lang="es-ES" dirty="0"/>
              <a:t>:</a:t>
            </a:r>
          </a:p>
          <a:p>
            <a:pPr lvl="1"/>
            <a:r>
              <a:rPr lang="es-ES" dirty="0"/>
              <a:t>Supervisión de tiempo (</a:t>
            </a:r>
            <a:r>
              <a:rPr lang="es-ES" dirty="0" err="1"/>
              <a:t>timeout</a:t>
            </a:r>
            <a:r>
              <a:rPr lang="es-ES" dirty="0"/>
              <a:t>).</a:t>
            </a:r>
          </a:p>
          <a:p>
            <a:pPr lvl="1"/>
            <a:r>
              <a:rPr lang="es-ES" dirty="0"/>
              <a:t>Plausibilidad con UID único.</a:t>
            </a:r>
          </a:p>
          <a:p>
            <a:pPr lvl="1"/>
            <a:r>
              <a:rPr lang="es-ES" dirty="0"/>
              <a:t>Ensayo cíclico (abrir/cerrar en intervalos).</a:t>
            </a:r>
          </a:p>
          <a:p>
            <a:pPr lvl="1"/>
            <a:r>
              <a:rPr lang="es-ES" dirty="0"/>
              <a:t>Monitorización de línea (corte de cable o cortocircuito).</a:t>
            </a:r>
          </a:p>
          <a:p>
            <a:r>
              <a:rPr lang="es-ES" b="1" dirty="0"/>
              <a:t>Justificación</a:t>
            </a:r>
            <a:r>
              <a:rPr lang="es-ES" dirty="0"/>
              <a:t>: si aplicas al menos 2 de estas técnicas → puedes reclamar </a:t>
            </a:r>
            <a:r>
              <a:rPr lang="es-ES" b="1" dirty="0"/>
              <a:t>DC medio (60–90 %)</a:t>
            </a:r>
            <a:r>
              <a:rPr lang="es-ES" dirty="0"/>
              <a:t>.</a:t>
            </a:r>
          </a:p>
          <a:p>
            <a:r>
              <a:rPr lang="es-ES" b="1" dirty="0"/>
              <a:t>🔹 Subsistema bloqueo (2 Hall redundantes)</a:t>
            </a:r>
          </a:p>
          <a:p>
            <a:r>
              <a:rPr lang="es-ES" b="1" dirty="0"/>
              <a:t>Fallos peligrosos típicos</a:t>
            </a:r>
            <a:r>
              <a:rPr lang="es-ES" dirty="0"/>
              <a:t>:</a:t>
            </a:r>
          </a:p>
          <a:p>
            <a:pPr lvl="1"/>
            <a:r>
              <a:rPr lang="es-ES" dirty="0"/>
              <a:t>Hall A atascado en “activo”.</a:t>
            </a:r>
          </a:p>
          <a:p>
            <a:pPr lvl="1"/>
            <a:r>
              <a:rPr lang="es-ES" dirty="0"/>
              <a:t>Hall B atascado en “activo”.</a:t>
            </a:r>
          </a:p>
          <a:p>
            <a:pPr lvl="1"/>
            <a:r>
              <a:rPr lang="es-ES" dirty="0"/>
              <a:t>Ambos atascados en el mismo estado (fallo común).</a:t>
            </a:r>
          </a:p>
          <a:p>
            <a:r>
              <a:rPr lang="es-ES" b="1" dirty="0"/>
              <a:t>Medidas de diagnóstico posibles</a:t>
            </a:r>
            <a:r>
              <a:rPr lang="es-ES" dirty="0"/>
              <a:t>:</a:t>
            </a:r>
          </a:p>
          <a:p>
            <a:pPr lvl="1"/>
            <a:r>
              <a:rPr lang="es-ES" dirty="0"/>
              <a:t>Comparación de coherencia A vs B.</a:t>
            </a:r>
          </a:p>
          <a:p>
            <a:pPr lvl="1"/>
            <a:r>
              <a:rPr lang="es-ES" dirty="0"/>
              <a:t>Rango analógico (descartar señales fuera de umbral).</a:t>
            </a:r>
          </a:p>
          <a:p>
            <a:pPr lvl="1"/>
            <a:r>
              <a:rPr lang="es-ES" dirty="0"/>
              <a:t>Supervisión de cableado (interrupción, cortocircuito).</a:t>
            </a:r>
          </a:p>
          <a:p>
            <a:r>
              <a:rPr lang="es-ES" b="1" dirty="0"/>
              <a:t>Justificación</a:t>
            </a:r>
            <a:r>
              <a:rPr lang="es-ES" dirty="0"/>
              <a:t>: con redundancia + supervisión → </a:t>
            </a:r>
            <a:r>
              <a:rPr lang="es-ES" b="1" dirty="0"/>
              <a:t>DC alto (&gt;90 %)</a:t>
            </a:r>
            <a:r>
              <a:rPr lang="es-ES" dirty="0"/>
              <a:t> es defendible.</a:t>
            </a:r>
          </a:p>
          <a:p>
            <a:r>
              <a:rPr lang="es-ES" b="1" dirty="0"/>
              <a:t>Subsistema salidas OSSD</a:t>
            </a:r>
          </a:p>
          <a:p>
            <a:r>
              <a:rPr lang="es-ES" b="1" dirty="0"/>
              <a:t>Fallos peligrosos típicos</a:t>
            </a:r>
            <a:r>
              <a:rPr lang="es-ES" dirty="0"/>
              <a:t>:</a:t>
            </a:r>
          </a:p>
          <a:p>
            <a:pPr lvl="1"/>
            <a:r>
              <a:rPr lang="es-ES" dirty="0"/>
              <a:t>Transistor de salida atascado en ON.</a:t>
            </a:r>
          </a:p>
          <a:p>
            <a:pPr lvl="1"/>
            <a:r>
              <a:rPr lang="es-ES" dirty="0"/>
              <a:t>Pérdida de canal.</a:t>
            </a:r>
          </a:p>
          <a:p>
            <a:r>
              <a:rPr lang="es-ES" b="1" dirty="0"/>
              <a:t>Medidas de diagnóstico</a:t>
            </a:r>
            <a:r>
              <a:rPr lang="es-ES" dirty="0"/>
              <a:t>:</a:t>
            </a:r>
          </a:p>
          <a:p>
            <a:pPr lvl="1"/>
            <a:r>
              <a:rPr lang="es-ES" dirty="0"/>
              <a:t>Salidas duales + test de pulsos cruzados (típico en OSSD).</a:t>
            </a:r>
          </a:p>
          <a:p>
            <a:r>
              <a:rPr lang="es-ES" b="1" dirty="0"/>
              <a:t>Justificación</a:t>
            </a:r>
            <a:r>
              <a:rPr lang="es-ES" dirty="0"/>
              <a:t>: se puede reclamar </a:t>
            </a:r>
            <a:r>
              <a:rPr lang="es-ES" b="1" dirty="0"/>
              <a:t>DC alto (&gt;90 %)</a:t>
            </a:r>
            <a:r>
              <a:rPr lang="es-ES" dirty="0"/>
              <a:t>.</a:t>
            </a:r>
          </a:p>
          <a:p>
            <a:r>
              <a:rPr lang="es-ES" b="1" dirty="0"/>
              <a:t>4. Cómo “calcularlo” en la práctica</a:t>
            </a:r>
          </a:p>
          <a:p>
            <a:r>
              <a:rPr lang="es-ES" dirty="0"/>
              <a:t>Se hace una lista de fallos peligrosos por subsistema.</a:t>
            </a:r>
          </a:p>
          <a:p>
            <a:r>
              <a:rPr lang="es-ES" dirty="0"/>
              <a:t>Se describe qué diagnósticos se aplica</a:t>
            </a:r>
          </a:p>
          <a:p>
            <a:r>
              <a:rPr lang="es-ES" dirty="0"/>
              <a:t>Se busca en </a:t>
            </a:r>
            <a:r>
              <a:rPr lang="es-ES" b="1" dirty="0"/>
              <a:t>ISO 13849-1 Anexo E</a:t>
            </a:r>
            <a:r>
              <a:rPr lang="es-ES" dirty="0"/>
              <a:t> si la técnica aparece listada → te da el rango (bajo, medio, alto).</a:t>
            </a:r>
          </a:p>
          <a:p>
            <a:r>
              <a:rPr lang="es-ES" dirty="0"/>
              <a:t>Si no está, justificas con literatura o pruebas.</a:t>
            </a:r>
          </a:p>
          <a:p>
            <a:r>
              <a:rPr lang="es-ES" dirty="0"/>
              <a:t>Tomas el rango </a:t>
            </a:r>
            <a:r>
              <a:rPr lang="es-ES" b="1" dirty="0"/>
              <a:t>más conservador</a:t>
            </a:r>
            <a:r>
              <a:rPr lang="es-ES" dirty="0"/>
              <a:t> aplicable.</a:t>
            </a:r>
          </a:p>
          <a:p>
            <a:r>
              <a:rPr lang="es-ES" dirty="0"/>
              <a:t>Ejemplo:</a:t>
            </a:r>
          </a:p>
          <a:p>
            <a:r>
              <a:rPr lang="es-ES" dirty="0"/>
              <a:t>RFID con </a:t>
            </a:r>
            <a:r>
              <a:rPr lang="es-ES" dirty="0" err="1"/>
              <a:t>timeout</a:t>
            </a:r>
            <a:r>
              <a:rPr lang="es-ES" dirty="0"/>
              <a:t> + plausibilidad UID → DC medio (~85 %).</a:t>
            </a:r>
          </a:p>
          <a:p>
            <a:r>
              <a:rPr lang="es-ES" dirty="0"/>
              <a:t>Halls redundantes con coherencia → DC alto (~95 %).</a:t>
            </a:r>
          </a:p>
          <a:p>
            <a:r>
              <a:rPr lang="es-ES" dirty="0"/>
              <a:t>OSSD dual → DC alto (~99 %).</a:t>
            </a:r>
          </a:p>
          <a:p>
            <a:r>
              <a:rPr lang="es-ES" dirty="0"/>
              <a:t>El </a:t>
            </a:r>
            <a:r>
              <a:rPr lang="es-ES" b="1" dirty="0" err="1"/>
              <a:t>DCavg</a:t>
            </a:r>
            <a:r>
              <a:rPr lang="es-ES" b="1" dirty="0"/>
              <a:t> del sistema completo</a:t>
            </a:r>
            <a:r>
              <a:rPr lang="es-ES" dirty="0"/>
              <a:t> se obtiene combinando cada subsistema según la arquitectura (Cat.2 o Cat.3). Si uno tiene DC medio y el otro alto, el resultado global queda en la zona de </a:t>
            </a:r>
            <a:r>
              <a:rPr lang="es-ES" b="1" dirty="0"/>
              <a:t>PL d</a:t>
            </a:r>
            <a:r>
              <a:rPr lang="es-ES" dirty="0"/>
              <a:t>.</a:t>
            </a:r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C68546E-10A1-D8B1-2392-76731C788F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EDEB3D-9BEC-4BEC-B22B-D1208B4020C5}" type="slidenum">
              <a:rPr lang="es-ES" smtClean="0"/>
              <a:t>12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436690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53315-32F0-686A-34A3-E2AAAE40C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8429086-9C77-499D-212C-E58D04D67D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0661927-AABD-901B-5039-D56BA8E0FE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050883C-70D9-6007-5FCE-1C3924C8F6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EDEB3D-9BEC-4BEC-B22B-D1208B4020C5}" type="slidenum">
              <a:rPr lang="es-ES" smtClean="0"/>
              <a:t>13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927918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32065-E17B-BC3E-7BF1-5D3CBF8B3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BB9697E-3C55-C23B-65EC-5DEC8B05A6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41A959F-7BC9-EA0E-F496-02581FF87C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C6DBFA9-C557-6CD3-EA29-A810915352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EDEB3D-9BEC-4BEC-B22B-D1208B4020C5}" type="slidenum">
              <a:rPr lang="es-ES" smtClean="0"/>
              <a:t>14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222092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93C9B-698A-16BE-945B-6C0ED5AA1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71B8982-D453-149C-A781-42F2E3F6B6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4494E49-543D-F7F3-0803-CFA9C1B024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DFECCB0-6C75-19C2-4186-7F65315003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EDEB3D-9BEC-4BEC-B22B-D1208B4020C5}" type="slidenum">
              <a:rPr lang="es-ES" smtClean="0"/>
              <a:t>15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554968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4BED2-286A-FCF8-885A-5BCFD0C87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1EDE492-94C1-223D-03AF-909BEC19EC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88728B0-A14B-2473-6DCF-3384158A04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5038872-797E-02C5-E5B7-1BF9AC824F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EDEB3D-9BEC-4BEC-B22B-D1208B4020C5}" type="slidenum">
              <a:rPr lang="es-ES" smtClean="0"/>
              <a:t>16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9285781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96B050-5158-1717-625F-C90F62EE7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4FDD567-7A65-FE22-F956-A0D104F0B6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3AE8F62-C090-2829-08FD-5EB966D769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El CCF es la resistencia a fallos de causa común.</a:t>
            </a:r>
            <a:br>
              <a:rPr lang="es-ES" dirty="0"/>
            </a:br>
            <a:r>
              <a:rPr lang="es-ES" dirty="0"/>
              <a:t>La norma exige ≥65 puntos en un </a:t>
            </a:r>
            <a:r>
              <a:rPr lang="es-ES" dirty="0" err="1"/>
              <a:t>checklist</a:t>
            </a:r>
            <a:r>
              <a:rPr lang="es-ES" dirty="0"/>
              <a:t>.</a:t>
            </a:r>
            <a:br>
              <a:rPr lang="es-ES" dirty="0"/>
            </a:br>
            <a:r>
              <a:rPr lang="es-ES" dirty="0"/>
              <a:t>Con separación física, medidas EMC, análisis y protección ambiental alcanzamos más de 65 puntos, cumpliendo el requisito.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BBE1922-CE30-14F5-88B5-9C14369521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EDEB3D-9BEC-4BEC-B22B-D1208B4020C5}" type="slidenum">
              <a:rPr lang="es-ES" smtClean="0"/>
              <a:t>17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6658054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A6C33-E149-B701-FAE0-ECA96F99B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A7F06A1-B1EB-692C-C493-CD4E89427D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5A0211E-C2A4-9F9E-C6EF-DF49A870AF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A6CED6C-25A0-5E8B-542C-3F010287C7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EDEB3D-9BEC-4BEC-B22B-D1208B4020C5}" type="slidenum">
              <a:rPr lang="es-ES" smtClean="0"/>
              <a:t>18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8251586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1BE100-D9F4-B094-3FB7-AA12323D9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14CD19A-47BB-9AD4-EED1-031160D776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0CFB5E2-EE89-F425-FF6B-8156869B09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1DBE4A6-3B00-6EA3-702C-75F4CD754F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EDEB3D-9BEC-4BEC-B22B-D1208B4020C5}" type="slidenum">
              <a:rPr lang="es-ES" smtClean="0"/>
              <a:t>19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212723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1FBE09-288E-A1F4-24D0-BFC984C86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44F7A6E-B627-200C-25FD-798B5DCD1B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85225F2-3256-F88F-4AF6-F5FCDC779D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Cada parte se clasifica en una categoría de la ISO 13849-1.</a:t>
            </a:r>
            <a:br>
              <a:rPr lang="es-ES" dirty="0"/>
            </a:br>
            <a:r>
              <a:rPr lang="es-ES" dirty="0"/>
              <a:t>RFID: canal único, Cat.1; con ensayo cíclico lo elevamos a Cat.2.</a:t>
            </a:r>
            <a:br>
              <a:rPr lang="es-ES" dirty="0"/>
            </a:br>
            <a:r>
              <a:rPr lang="es-ES" dirty="0"/>
              <a:t>Bloqueo Hall: dos canales redundantes con diagnóstico → Cat.3.</a:t>
            </a:r>
            <a:br>
              <a:rPr lang="es-ES" dirty="0"/>
            </a:br>
            <a:r>
              <a:rPr lang="es-ES" dirty="0"/>
              <a:t>Así cada subsistema está correctamente categorizado.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8688664-C290-3360-4B5A-7E55EEAED5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EDEB3D-9BEC-4BEC-B22B-D1208B4020C5}" type="slidenum">
              <a:rPr lang="es-ES" smtClean="0"/>
              <a:t>20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9740175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A842D6-7D05-B4B2-32AD-24C5F7476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895B609-3472-25E6-8BAB-ED443F59DD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ABD7E8A-DA19-D3AA-414C-990E8166BF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La norma permite combinar subfunciones.</a:t>
            </a:r>
            <a:br>
              <a:rPr lang="es-ES" dirty="0"/>
            </a:br>
            <a:r>
              <a:rPr lang="es-ES" dirty="0"/>
              <a:t>En nuestro caso, la función global es “puerta cerrada AND puerta bloqueada”.</a:t>
            </a:r>
            <a:br>
              <a:rPr lang="es-ES" dirty="0"/>
            </a:br>
            <a:r>
              <a:rPr lang="es-ES" dirty="0"/>
              <a:t>Aunque el RFID solo sea Cat.2, la redundancia de los Hall asegura que la función completa llega a </a:t>
            </a:r>
            <a:r>
              <a:rPr lang="es-ES" dirty="0" err="1"/>
              <a:t>PLd</a:t>
            </a:r>
            <a:r>
              <a:rPr lang="es-ES" dirty="0"/>
              <a:t>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C79E291-8CB1-2425-AC30-E696DE62D1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EDEB3D-9BEC-4BEC-B22B-D1208B4020C5}" type="slidenum">
              <a:rPr lang="es-ES" smtClean="0"/>
              <a:t>21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0467928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B051D-4946-1118-29AD-6135E1CFF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B920698-7AB4-A3D7-2885-91963F465A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BA2169C-5500-2E57-65F4-FDD8FEB6B5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Resumen de cada subsistema:</a:t>
            </a:r>
            <a:br>
              <a:rPr lang="es-ES" dirty="0"/>
            </a:br>
            <a:r>
              <a:rPr lang="es-ES" dirty="0"/>
              <a:t>– RFID: Cat.2, </a:t>
            </a:r>
            <a:r>
              <a:rPr lang="es-ES" dirty="0" err="1"/>
              <a:t>PLd</a:t>
            </a:r>
            <a:r>
              <a:rPr lang="es-ES" dirty="0"/>
              <a:t>.</a:t>
            </a:r>
            <a:br>
              <a:rPr lang="es-ES" dirty="0"/>
            </a:br>
            <a:r>
              <a:rPr lang="es-ES" dirty="0"/>
              <a:t>– Hall: Cat.3, </a:t>
            </a:r>
            <a:r>
              <a:rPr lang="es-ES" dirty="0" err="1"/>
              <a:t>PLd</a:t>
            </a:r>
            <a:r>
              <a:rPr lang="es-ES" dirty="0"/>
              <a:t>.</a:t>
            </a:r>
            <a:br>
              <a:rPr lang="es-ES" dirty="0"/>
            </a:br>
            <a:r>
              <a:rPr lang="es-ES" dirty="0"/>
              <a:t>– OSSD: Cat.3, </a:t>
            </a:r>
            <a:r>
              <a:rPr lang="es-ES" dirty="0" err="1"/>
              <a:t>PLd</a:t>
            </a:r>
            <a:r>
              <a:rPr lang="es-ES" dirty="0"/>
              <a:t>.</a:t>
            </a:r>
            <a:br>
              <a:rPr lang="es-ES" dirty="0"/>
            </a:br>
            <a:r>
              <a:rPr lang="es-ES" dirty="0"/>
              <a:t>– CCF: cumplido.</a:t>
            </a:r>
            <a:br>
              <a:rPr lang="es-ES" dirty="0"/>
            </a:br>
            <a:r>
              <a:rPr lang="es-ES" dirty="0"/>
              <a:t>Cada subsistema está alineado con la norma y llega al nivel exigido.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C82C635-463D-7FED-D49C-87EE4570B1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EDEB3D-9BEC-4BEC-B22B-D1208B4020C5}" type="slidenum">
              <a:rPr lang="es-ES" smtClean="0"/>
              <a:t>22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2248260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C300A-79BC-601E-60B9-1C849D0B4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0F9C078-0102-9825-8B3D-78E5DB0CCE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2C346C2-E070-05DD-E0A4-58ED991D04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AD5AA4D-90A4-3D77-900B-A45D00E13F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EDEB3D-9BEC-4BEC-B22B-D1208B4020C5}" type="slidenum">
              <a:rPr lang="es-ES" smtClean="0"/>
              <a:t>23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8550787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C55562-8204-BC4A-A831-4DA740696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829C010-F210-334D-6B38-735FAC4269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5EBB672-3C96-3602-16FE-77D32B4B5C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El PL global se calcula sumando las probabilidades de fallo (</a:t>
            </a:r>
            <a:r>
              <a:rPr lang="es-ES" dirty="0" err="1"/>
              <a:t>PFHd</a:t>
            </a:r>
            <a:r>
              <a:rPr lang="es-ES" dirty="0"/>
              <a:t>) de cada subsistema.</a:t>
            </a:r>
            <a:br>
              <a:rPr lang="es-ES" dirty="0"/>
            </a:br>
            <a:r>
              <a:rPr lang="es-ES" dirty="0"/>
              <a:t>El resultado está dentro del rango de </a:t>
            </a:r>
            <a:r>
              <a:rPr lang="es-ES" dirty="0" err="1"/>
              <a:t>PLd</a:t>
            </a:r>
            <a:r>
              <a:rPr lang="es-ES" dirty="0"/>
              <a:t> (10⁻⁷ a 10⁻⁶).</a:t>
            </a:r>
            <a:br>
              <a:rPr lang="es-ES" dirty="0"/>
            </a:br>
            <a:r>
              <a:rPr lang="es-ES" dirty="0"/>
              <a:t>El PL total queda limitado por el peor subsistema, y en este caso todos alcanzan </a:t>
            </a:r>
            <a:r>
              <a:rPr lang="es-ES" dirty="0" err="1"/>
              <a:t>PLd</a:t>
            </a:r>
            <a:r>
              <a:rPr lang="es-ES" dirty="0"/>
              <a:t>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6700A45-1072-6ED4-EC61-8A4DC59EB6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EDEB3D-9BEC-4BEC-B22B-D1208B4020C5}" type="slidenum">
              <a:rPr lang="es-ES" smtClean="0"/>
              <a:t>24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6102830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B5F6D9-FD9A-7976-D7D6-20F92B334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97913CA-E735-0E02-48A3-6497D75CFA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F89ADCC-9778-C2DD-7ED6-5F4D4CB884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Para justificar que el RFID llega a Cat.2 y DC medio, añadimos:</a:t>
            </a:r>
            <a:br>
              <a:rPr lang="es-ES" dirty="0"/>
            </a:br>
            <a:r>
              <a:rPr lang="es-ES" dirty="0"/>
              <a:t>– Supervisión de tiempos.</a:t>
            </a:r>
            <a:br>
              <a:rPr lang="es-ES" dirty="0"/>
            </a:br>
            <a:r>
              <a:rPr lang="es-ES" dirty="0"/>
              <a:t>– Ensayo cíclico.</a:t>
            </a:r>
            <a:br>
              <a:rPr lang="es-ES" dirty="0"/>
            </a:br>
            <a:r>
              <a:rPr lang="es-ES" dirty="0"/>
              <a:t>– Plausibilidad del código único (UID).</a:t>
            </a:r>
            <a:br>
              <a:rPr lang="es-ES" dirty="0"/>
            </a:br>
            <a:r>
              <a:rPr lang="es-ES" dirty="0"/>
              <a:t>Con estas medidas el RFID se integra en la arquitectura de seguridad.</a:t>
            </a:r>
          </a:p>
          <a:p>
            <a:endParaRPr lang="es-ES" b="1" dirty="0"/>
          </a:p>
          <a:p>
            <a:r>
              <a:rPr lang="es-ES" dirty="0"/>
              <a:t>El sistema cumple </a:t>
            </a:r>
            <a:r>
              <a:rPr lang="es-ES" dirty="0" err="1"/>
              <a:t>PLd</a:t>
            </a:r>
            <a:r>
              <a:rPr lang="es-ES" dirty="0"/>
              <a:t> según UNE-EN ISO 13849-1/-2 e ISO 14119.</a:t>
            </a:r>
            <a:br>
              <a:rPr lang="es-ES" dirty="0"/>
            </a:br>
            <a:r>
              <a:rPr lang="es-ES" dirty="0"/>
              <a:t>Con esta base, se puede avanzar hacia la certificación con garantías.</a:t>
            </a:r>
            <a:br>
              <a:rPr lang="es-ES" dirty="0"/>
            </a:br>
            <a:r>
              <a:rPr lang="es-ES" dirty="0"/>
              <a:t>El diseño está alineado con la normativa de seguridad aplicable a ascensores de obra.</a:t>
            </a:r>
            <a:endParaRPr lang="es-ES" b="1" dirty="0"/>
          </a:p>
          <a:p>
            <a:endParaRPr lang="es-ES" b="1" dirty="0"/>
          </a:p>
          <a:p>
            <a:endParaRPr lang="es-ES" b="1" dirty="0"/>
          </a:p>
          <a:p>
            <a:endParaRPr lang="es-ES" b="1" dirty="0"/>
          </a:p>
          <a:p>
            <a:endParaRPr lang="es-ES" b="1" dirty="0"/>
          </a:p>
          <a:p>
            <a:r>
              <a:rPr lang="es-ES" b="1" dirty="0"/>
              <a:t>1. ¿Qué es el </a:t>
            </a:r>
            <a:r>
              <a:rPr lang="es-ES" b="1" dirty="0" err="1"/>
              <a:t>MTTFd</a:t>
            </a:r>
            <a:r>
              <a:rPr lang="es-ES" b="1" dirty="0"/>
              <a:t>?</a:t>
            </a:r>
          </a:p>
          <a:p>
            <a:r>
              <a:rPr lang="es-ES" b="1" dirty="0" err="1"/>
              <a:t>MTTFd</a:t>
            </a:r>
            <a:r>
              <a:rPr lang="es-ES" dirty="0"/>
              <a:t> = </a:t>
            </a:r>
            <a:r>
              <a:rPr lang="es-ES" i="1" dirty="0"/>
              <a:t>Mean Time To </a:t>
            </a:r>
            <a:r>
              <a:rPr lang="es-ES" i="1" dirty="0" err="1"/>
              <a:t>Dangerous</a:t>
            </a:r>
            <a:r>
              <a:rPr lang="es-ES" i="1" dirty="0"/>
              <a:t> </a:t>
            </a:r>
            <a:r>
              <a:rPr lang="es-ES" i="1" dirty="0" err="1"/>
              <a:t>Failure</a:t>
            </a:r>
            <a:r>
              <a:rPr lang="es-ES" dirty="0"/>
              <a:t> (tiempo medio hasta fallo peligroso).</a:t>
            </a:r>
          </a:p>
          <a:p>
            <a:r>
              <a:rPr lang="es-ES" dirty="0"/>
              <a:t>Se calcula en </a:t>
            </a:r>
            <a:r>
              <a:rPr lang="es-ES" b="1" dirty="0"/>
              <a:t>años</a:t>
            </a:r>
            <a:r>
              <a:rPr lang="es-ES" dirty="0"/>
              <a:t> (o convertido a horas).</a:t>
            </a:r>
          </a:p>
          <a:p>
            <a:r>
              <a:rPr lang="es-ES" dirty="0"/>
              <a:t>Es un parámetro de entrada en el cálculo del </a:t>
            </a:r>
            <a:r>
              <a:rPr lang="es-ES" b="1" dirty="0" err="1"/>
              <a:t>PFHd</a:t>
            </a:r>
            <a:r>
              <a:rPr lang="es-ES" dirty="0"/>
              <a:t> y, en consecuencia, del </a:t>
            </a:r>
            <a:r>
              <a:rPr lang="es-ES" b="1" dirty="0"/>
              <a:t>PL alcanzado</a:t>
            </a:r>
            <a:r>
              <a:rPr lang="es-ES" dirty="0"/>
              <a:t>.</a:t>
            </a:r>
          </a:p>
          <a:p>
            <a:r>
              <a:rPr lang="es-ES" dirty="0"/>
              <a:t>Referencia: </a:t>
            </a:r>
            <a:r>
              <a:rPr lang="es-ES" b="1" dirty="0"/>
              <a:t>§4.5</a:t>
            </a:r>
            <a:r>
              <a:rPr lang="es-ES" dirty="0"/>
              <a:t> + </a:t>
            </a:r>
            <a:r>
              <a:rPr lang="es-ES" b="1" dirty="0"/>
              <a:t>Anexo C/D</a:t>
            </a:r>
            <a:r>
              <a:rPr lang="es-ES" dirty="0"/>
              <a:t> de la ISO 13849-1:2024.</a:t>
            </a:r>
          </a:p>
          <a:p>
            <a:r>
              <a:rPr lang="es-ES" b="1" dirty="0"/>
              <a:t>2. Cómo se obtiene el </a:t>
            </a:r>
            <a:r>
              <a:rPr lang="es-ES" b="1" dirty="0" err="1"/>
              <a:t>MTTFd</a:t>
            </a:r>
            <a:r>
              <a:rPr lang="es-ES" b="1" dirty="0"/>
              <a:t> en la norma</a:t>
            </a:r>
          </a:p>
          <a:p>
            <a:r>
              <a:rPr lang="es-ES" b="1" dirty="0"/>
              <a:t>Si el fabricante da el </a:t>
            </a:r>
            <a:r>
              <a:rPr lang="es-ES" b="1" dirty="0" err="1"/>
              <a:t>MTTFd</a:t>
            </a:r>
            <a:r>
              <a:rPr lang="es-ES" b="1" dirty="0"/>
              <a:t> directamente</a:t>
            </a:r>
            <a:r>
              <a:rPr lang="es-ES" dirty="0"/>
              <a:t>: se usa ese valor (debe estar en la documentación de seguridad del componente).</a:t>
            </a:r>
          </a:p>
          <a:p>
            <a:pPr lvl="1"/>
            <a:r>
              <a:rPr lang="es-ES" dirty="0"/>
              <a:t>Ejemplo: algunos proveedores de sensores de seguridad (</a:t>
            </a:r>
            <a:r>
              <a:rPr lang="es-ES" dirty="0" err="1"/>
              <a:t>Pilz</a:t>
            </a:r>
            <a:r>
              <a:rPr lang="es-ES" dirty="0"/>
              <a:t>, </a:t>
            </a:r>
            <a:r>
              <a:rPr lang="es-ES" dirty="0" err="1"/>
              <a:t>Sick</a:t>
            </a:r>
            <a:r>
              <a:rPr lang="es-ES" dirty="0"/>
              <a:t>, </a:t>
            </a:r>
            <a:r>
              <a:rPr lang="es-ES" dirty="0" err="1"/>
              <a:t>Schmersal</a:t>
            </a:r>
            <a:r>
              <a:rPr lang="es-ES" dirty="0"/>
              <a:t>) declaran directamente </a:t>
            </a:r>
            <a:r>
              <a:rPr lang="es-ES" i="1" dirty="0" err="1"/>
              <a:t>MTTFd</a:t>
            </a:r>
            <a:r>
              <a:rPr lang="es-ES" i="1" dirty="0"/>
              <a:t> = 80 años</a:t>
            </a:r>
            <a:r>
              <a:rPr lang="es-ES" dirty="0"/>
              <a:t> en el datasheet de seguridad.</a:t>
            </a:r>
          </a:p>
          <a:p>
            <a:r>
              <a:rPr lang="es-ES" b="1" dirty="0"/>
              <a:t>Si el fabricante da B10d</a:t>
            </a:r>
            <a:r>
              <a:rPr lang="es-ES" dirty="0"/>
              <a:t> (número de ciclos hasta 10 % de fallos peligrosos):</a:t>
            </a:r>
          </a:p>
          <a:p>
            <a:pPr lvl="1"/>
            <a:r>
              <a:rPr lang="es-ES" dirty="0"/>
              <a:t>Se convierte a </a:t>
            </a:r>
            <a:r>
              <a:rPr lang="es-ES" dirty="0" err="1"/>
              <a:t>MTTFd</a:t>
            </a:r>
            <a:r>
              <a:rPr lang="es-ES" dirty="0"/>
              <a:t> con la fórmula del </a:t>
            </a:r>
            <a:r>
              <a:rPr lang="es-ES" b="1" dirty="0"/>
              <a:t>Anexo C.1</a:t>
            </a:r>
            <a:r>
              <a:rPr lang="es-ES" dirty="0"/>
              <a:t>:</a:t>
            </a:r>
          </a:p>
          <a:p>
            <a:r>
              <a:rPr lang="es-ES" b="1" dirty="0"/>
              <a:t>Si no se tiene dato específico</a:t>
            </a:r>
            <a:r>
              <a:rPr lang="es-ES" dirty="0"/>
              <a:t>:</a:t>
            </a:r>
          </a:p>
          <a:p>
            <a:pPr lvl="1"/>
            <a:r>
              <a:rPr lang="es-ES" dirty="0"/>
              <a:t>La norma permite usar valores de </a:t>
            </a:r>
            <a:r>
              <a:rPr lang="es-ES" b="1" dirty="0" err="1"/>
              <a:t>MTTFd</a:t>
            </a:r>
            <a:r>
              <a:rPr lang="es-ES" b="1" dirty="0"/>
              <a:t> por defecto</a:t>
            </a:r>
            <a:r>
              <a:rPr lang="es-ES" dirty="0"/>
              <a:t> del </a:t>
            </a:r>
            <a:r>
              <a:rPr lang="es-ES" b="1" dirty="0"/>
              <a:t>Anexo C, tabla C.1</a:t>
            </a:r>
            <a:r>
              <a:rPr lang="es-ES" dirty="0"/>
              <a:t>, que clasifica en </a:t>
            </a:r>
            <a:r>
              <a:rPr lang="es-ES" b="1" dirty="0"/>
              <a:t>Bajo (3–10 a)</a:t>
            </a:r>
            <a:r>
              <a:rPr lang="es-ES" dirty="0"/>
              <a:t>, </a:t>
            </a:r>
            <a:r>
              <a:rPr lang="es-ES" b="1" dirty="0"/>
              <a:t>Medio (10–30 a)</a:t>
            </a:r>
            <a:r>
              <a:rPr lang="es-ES" dirty="0"/>
              <a:t>, </a:t>
            </a:r>
            <a:r>
              <a:rPr lang="es-ES" b="1" dirty="0"/>
              <a:t>Alto (30–100 a)</a:t>
            </a:r>
            <a:r>
              <a:rPr lang="es-ES" dirty="0"/>
              <a:t> según el tipo de componente.</a:t>
            </a:r>
          </a:p>
          <a:p>
            <a:pPr lvl="1"/>
            <a:r>
              <a:rPr lang="es-ES" dirty="0"/>
              <a:t>En nuestro caso, si el RFID es un módulo electrónico con muy bajo desgaste mecánico, lo razonable es ubicarlo en </a:t>
            </a:r>
            <a:r>
              <a:rPr lang="es-ES" b="1" dirty="0"/>
              <a:t>Medio–Alto</a:t>
            </a:r>
            <a:r>
              <a:rPr lang="es-ES" dirty="0"/>
              <a:t>, es decir, 30–100 años.</a:t>
            </a:r>
          </a:p>
          <a:p>
            <a:pPr lvl="1"/>
            <a:r>
              <a:rPr lang="es-ES" dirty="0"/>
              <a:t>Esa tabla es la que justifica que, en ausencia de datos más concretos, uses el rango </a:t>
            </a:r>
            <a:r>
              <a:rPr lang="es-ES" b="1" dirty="0"/>
              <a:t>[30…100 a]</a:t>
            </a:r>
            <a:r>
              <a:rPr lang="es-ES" dirty="0"/>
              <a:t> como hipótesis conservadora.</a:t>
            </a:r>
          </a:p>
          <a:p>
            <a:r>
              <a:rPr lang="es-ES" b="1" dirty="0"/>
              <a:t>3. ¿Por qué ponemos 30–100 años para el RFID?</a:t>
            </a:r>
          </a:p>
          <a:p>
            <a:r>
              <a:rPr lang="es-ES" dirty="0"/>
              <a:t>En </a:t>
            </a:r>
            <a:r>
              <a:rPr lang="es-ES" b="1" dirty="0"/>
              <a:t>ISO 13849-1:2024, Anexo C, tabla C.1</a:t>
            </a:r>
            <a:r>
              <a:rPr lang="es-ES" dirty="0"/>
              <a:t>, los </a:t>
            </a:r>
            <a:r>
              <a:rPr lang="es-ES" b="1" dirty="0"/>
              <a:t>componentes electrónicos</a:t>
            </a:r>
            <a:r>
              <a:rPr lang="es-ES" dirty="0"/>
              <a:t> sin partes móviles tienden a clasificarse en </a:t>
            </a:r>
            <a:r>
              <a:rPr lang="es-ES" b="1" dirty="0" err="1"/>
              <a:t>MTTFd</a:t>
            </a:r>
            <a:r>
              <a:rPr lang="es-ES" b="1" dirty="0"/>
              <a:t> alto</a:t>
            </a:r>
            <a:r>
              <a:rPr lang="es-ES" dirty="0"/>
              <a:t> (30–100 a).</a:t>
            </a:r>
          </a:p>
          <a:p>
            <a:r>
              <a:rPr lang="es-ES" dirty="0"/>
              <a:t>No nos lo podemos inventar, pero </a:t>
            </a:r>
            <a:r>
              <a:rPr lang="es-ES" b="1" dirty="0"/>
              <a:t>podemos</a:t>
            </a:r>
            <a:r>
              <a:rPr lang="es-ES" dirty="0"/>
              <a:t>:</a:t>
            </a:r>
          </a:p>
          <a:p>
            <a:pPr lvl="1"/>
            <a:r>
              <a:rPr lang="es-ES" dirty="0"/>
              <a:t>- Pedir al fabricante el </a:t>
            </a:r>
            <a:r>
              <a:rPr lang="es-ES" b="1" dirty="0"/>
              <a:t>B10d</a:t>
            </a:r>
            <a:r>
              <a:rPr lang="es-ES" dirty="0"/>
              <a:t> o el </a:t>
            </a:r>
            <a:r>
              <a:rPr lang="es-ES" b="1" dirty="0"/>
              <a:t>FIT </a:t>
            </a:r>
            <a:r>
              <a:rPr lang="es-ES" b="1" dirty="0" err="1"/>
              <a:t>rate</a:t>
            </a:r>
            <a:r>
              <a:rPr lang="es-ES" dirty="0"/>
              <a:t> (fallos por 10⁹ horas) → convertir con Anexo C/D.</a:t>
            </a:r>
          </a:p>
          <a:p>
            <a:pPr lvl="1"/>
            <a:r>
              <a:rPr lang="es-ES" dirty="0"/>
              <a:t> - Justificar en tu expediente: </a:t>
            </a:r>
            <a:r>
              <a:rPr lang="es-ES" i="1" dirty="0"/>
              <a:t>“A falta de dato específico del fabricante, se asigna al RFID una clase </a:t>
            </a:r>
            <a:r>
              <a:rPr lang="es-ES" i="1" dirty="0" err="1"/>
              <a:t>MTTFd</a:t>
            </a:r>
            <a:r>
              <a:rPr lang="es-ES" i="1" dirty="0"/>
              <a:t> = Alto (30–100 años), según ISO 13849-1:2024, Anexo C.1.”</a:t>
            </a:r>
            <a:endParaRPr lang="es-ES" dirty="0"/>
          </a:p>
          <a:p>
            <a:r>
              <a:rPr lang="es-ES" b="1" dirty="0"/>
              <a:t>4. Qué se escribe en el dossier</a:t>
            </a:r>
          </a:p>
          <a:p>
            <a:r>
              <a:rPr lang="es-ES" dirty="0"/>
              <a:t>En la parte de justificación se puede poner:</a:t>
            </a:r>
          </a:p>
          <a:p>
            <a:r>
              <a:rPr lang="es-ES" b="1" dirty="0"/>
              <a:t>Detección de resguardo cerrado (RFID 125 kHz):</a:t>
            </a:r>
            <a:br>
              <a:rPr lang="es-ES" dirty="0"/>
            </a:br>
            <a:r>
              <a:rPr lang="es-ES" dirty="0"/>
              <a:t>Se clasifica como subsistema </a:t>
            </a:r>
            <a:r>
              <a:rPr lang="es-ES" b="1" dirty="0"/>
              <a:t>Categoría 2</a:t>
            </a:r>
            <a:r>
              <a:rPr lang="es-ES" dirty="0"/>
              <a:t>, con </a:t>
            </a:r>
            <a:r>
              <a:rPr lang="es-ES" b="1" dirty="0"/>
              <a:t>diagnóstico medio (</a:t>
            </a:r>
            <a:r>
              <a:rPr lang="es-ES" b="1" dirty="0" err="1"/>
              <a:t>DCavg</a:t>
            </a:r>
            <a:r>
              <a:rPr lang="es-ES" b="1" dirty="0"/>
              <a:t> ≈ 90 %)</a:t>
            </a:r>
            <a:r>
              <a:rPr lang="es-ES" dirty="0"/>
              <a:t> gracias a ensayos cíclicos y comprobaciones de coherencia.</a:t>
            </a:r>
            <a:br>
              <a:rPr lang="es-ES" dirty="0"/>
            </a:br>
            <a:r>
              <a:rPr lang="es-ES" dirty="0"/>
              <a:t>El </a:t>
            </a:r>
            <a:r>
              <a:rPr lang="es-ES" b="1" dirty="0" err="1"/>
              <a:t>MTTFd</a:t>
            </a:r>
            <a:r>
              <a:rPr lang="es-ES" dirty="0"/>
              <a:t> se sitúa en el rango </a:t>
            </a:r>
            <a:r>
              <a:rPr lang="es-ES" b="1" dirty="0"/>
              <a:t>30–100 años (Alto)</a:t>
            </a:r>
            <a:r>
              <a:rPr lang="es-ES" dirty="0"/>
              <a:t> conforme a </a:t>
            </a:r>
            <a:r>
              <a:rPr lang="es-ES" b="1" dirty="0"/>
              <a:t>ISO 13849-1:2024, Anexo C, tabla C.1</a:t>
            </a:r>
            <a:r>
              <a:rPr lang="es-ES" dirty="0"/>
              <a:t>, dado que se trata de un dispositivo electrónico sin desgaste mecánico significativo.</a:t>
            </a:r>
            <a:br>
              <a:rPr lang="es-ES" dirty="0"/>
            </a:br>
            <a:r>
              <a:rPr lang="es-ES" dirty="0"/>
              <a:t>Este valor se actualizará cuando el proveedor suministre datos de </a:t>
            </a:r>
            <a:r>
              <a:rPr lang="es-ES" b="1" dirty="0"/>
              <a:t>B10d o FIT </a:t>
            </a:r>
            <a:r>
              <a:rPr lang="es-ES" b="1" dirty="0" err="1"/>
              <a:t>rate</a:t>
            </a:r>
            <a:r>
              <a:rPr lang="es-ES" dirty="0"/>
              <a:t>, y se recalculará con la fórmula de Anexo C/D</a:t>
            </a:r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2A7510C-27BF-9A02-4908-DE08E13994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EDEB3D-9BEC-4BEC-B22B-D1208B4020C5}" type="slidenum">
              <a:rPr lang="es-ES" smtClean="0"/>
              <a:t>25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8742568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2E56A-7C30-8207-F739-999BD59A2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EB9C8D8-5C1A-1575-E59D-3479C2FAAC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C11F70B-6CC4-9A4B-9DFD-AB52F3C00F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0B4AAC2-BE96-5897-FD74-908FA95254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EDEB3D-9BEC-4BEC-B22B-D1208B4020C5}" type="slidenum">
              <a:rPr lang="es-ES" smtClean="0"/>
              <a:t>26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2788077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5805A-7702-2640-803D-C8F78DBA4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9891229-9518-F131-B1A1-728BE5237C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7954675-BCE8-435E-6434-EF0E662906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6851D6A-8521-6334-4637-93A71694AE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EDEB3D-9BEC-4BEC-B22B-D1208B4020C5}" type="slidenum">
              <a:rPr lang="es-ES" smtClean="0"/>
              <a:t>27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527211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rgbClr val="58678B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rgbClr val="58678B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68891" y="331318"/>
            <a:ext cx="1465524" cy="571606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58467" y="805891"/>
            <a:ext cx="8352155" cy="50932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58467" y="1326134"/>
            <a:ext cx="2554859" cy="286512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8036" y="6597091"/>
            <a:ext cx="5544693" cy="128016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788787" y="6597091"/>
            <a:ext cx="174751" cy="128016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919851" y="6597091"/>
            <a:ext cx="144272" cy="12801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rgbClr val="58678B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062352" y="1644522"/>
            <a:ext cx="3686810" cy="43224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rgbClr val="58678B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rgbClr val="58678B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9/25/2025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9/25/2025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368891" y="331318"/>
            <a:ext cx="1465524" cy="57160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814818" y="1616709"/>
            <a:ext cx="2360295" cy="572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rgbClr val="58678B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18" Type="http://schemas.openxmlformats.org/officeDocument/2006/relationships/image" Target="../media/image2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17" Type="http://schemas.openxmlformats.org/officeDocument/2006/relationships/image" Target="../media/image22.png"/><Relationship Id="rId2" Type="http://schemas.openxmlformats.org/officeDocument/2006/relationships/image" Target="../media/image7.jpg"/><Relationship Id="rId16" Type="http://schemas.openxmlformats.org/officeDocument/2006/relationships/image" Target="../media/image21.png"/><Relationship Id="rId20" Type="http://schemas.openxmlformats.org/officeDocument/2006/relationships/image" Target="../media/image2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5" Type="http://schemas.openxmlformats.org/officeDocument/2006/relationships/image" Target="../media/image20.png"/><Relationship Id="rId10" Type="http://schemas.openxmlformats.org/officeDocument/2006/relationships/image" Target="../media/image15.png"/><Relationship Id="rId19" Type="http://schemas.openxmlformats.org/officeDocument/2006/relationships/image" Target="../media/image24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6.emf"/><Relationship Id="rId4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4.png"/><Relationship Id="rId11" Type="http://schemas.openxmlformats.org/officeDocument/2006/relationships/image" Target="../media/image49.png"/><Relationship Id="rId5" Type="http://schemas.openxmlformats.org/officeDocument/2006/relationships/image" Target="../media/image43.png"/><Relationship Id="rId10" Type="http://schemas.openxmlformats.org/officeDocument/2006/relationships/image" Target="../media/image48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17791" y="0"/>
            <a:ext cx="11574208" cy="6857998"/>
            <a:chOff x="617791" y="0"/>
            <a:chExt cx="11574208" cy="6857998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95753" y="0"/>
              <a:ext cx="10396246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61657" y="6474256"/>
              <a:ext cx="5301996" cy="8077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06438" y="6550456"/>
              <a:ext cx="5140070" cy="8077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7791" y="446824"/>
              <a:ext cx="1977644" cy="92388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56995" y="1274394"/>
              <a:ext cx="7844663" cy="76230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56995" y="1883613"/>
              <a:ext cx="5507101" cy="76230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574282" y="1883613"/>
              <a:ext cx="1590675" cy="76230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356995" y="2493898"/>
              <a:ext cx="3946905" cy="7620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206873" y="2493898"/>
              <a:ext cx="1176934" cy="7620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089650" y="2493898"/>
              <a:ext cx="4365625" cy="76200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356995" y="3103194"/>
              <a:ext cx="1627632" cy="76230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877946" y="3103194"/>
              <a:ext cx="4892421" cy="76230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423416" y="4388865"/>
              <a:ext cx="660806" cy="318516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918970" y="4388865"/>
              <a:ext cx="192024" cy="318516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014981" y="4388865"/>
              <a:ext cx="786765" cy="318516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644393" y="4388865"/>
              <a:ext cx="225551" cy="318516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757170" y="4388865"/>
              <a:ext cx="905002" cy="318516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423416" y="4739640"/>
              <a:ext cx="1220749" cy="252984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0054209" y="5667375"/>
              <a:ext cx="1664716" cy="55246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D782C-682F-4FC6-6978-2B5CF68FF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1ACA6C5A-8F61-C8A7-90FF-AE348552960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68891" y="331318"/>
            <a:ext cx="1465524" cy="571606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B52819AC-BA97-F444-FA56-C36C9CF083A7}"/>
              </a:ext>
            </a:extLst>
          </p:cNvPr>
          <p:cNvSpPr txBox="1"/>
          <p:nvPr/>
        </p:nvSpPr>
        <p:spPr>
          <a:xfrm>
            <a:off x="457200" y="3200400"/>
            <a:ext cx="1087305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4400" b="1" dirty="0">
                <a:solidFill>
                  <a:srgbClr val="000000"/>
                </a:solidFill>
                <a:latin typeface="Aptos" panose="020B0004020202020204" pitchFamily="34" charset="0"/>
              </a:rPr>
              <a:t>R</a:t>
            </a:r>
            <a:r>
              <a:rPr lang="es-ES" sz="4400" b="1" i="0" u="none" strike="noStrike" baseline="0" dirty="0">
                <a:solidFill>
                  <a:srgbClr val="000000"/>
                </a:solidFill>
                <a:latin typeface="Aptos" panose="020B0004020202020204" pitchFamily="34" charset="0"/>
              </a:rPr>
              <a:t>eunión de seguimiento  - 12/09/2025</a:t>
            </a:r>
          </a:p>
        </p:txBody>
      </p:sp>
    </p:spTree>
    <p:extLst>
      <p:ext uri="{BB962C8B-B14F-4D97-AF65-F5344CB8AC3E}">
        <p14:creationId xmlns:p14="http://schemas.microsoft.com/office/powerpoint/2010/main" val="20872631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42F26-5280-3D9E-245E-6867076D6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F3F4B934-7938-983D-886A-C28ADC10E14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68891" y="331318"/>
            <a:ext cx="1465524" cy="571606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F70F1FD0-EB47-AECA-6136-E851363AFC0B}"/>
              </a:ext>
            </a:extLst>
          </p:cNvPr>
          <p:cNvSpPr txBox="1"/>
          <p:nvPr/>
        </p:nvSpPr>
        <p:spPr>
          <a:xfrm>
            <a:off x="457200" y="457200"/>
            <a:ext cx="11506200" cy="4739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rgbClr val="000000"/>
                </a:solidFill>
                <a:latin typeface="Aptos" panose="020B0004020202020204" pitchFamily="34" charset="0"/>
              </a:rPr>
              <a:t>Revisión del prototipo y explicación por parte de </a:t>
            </a:r>
            <a:r>
              <a:rPr lang="es-ES" sz="2000" dirty="0" err="1">
                <a:solidFill>
                  <a:srgbClr val="000000"/>
                </a:solidFill>
                <a:latin typeface="Aptos" panose="020B0004020202020204" pitchFamily="34" charset="0"/>
              </a:rPr>
              <a:t>Alimak</a:t>
            </a:r>
            <a:r>
              <a:rPr lang="es-ES" sz="2000" dirty="0">
                <a:solidFill>
                  <a:srgbClr val="000000"/>
                </a:solidFill>
                <a:latin typeface="Aptos" panose="020B0004020202020204" pitchFamily="34" charset="0"/>
              </a:rPr>
              <a:t> del funcionamiento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i="0" u="none" strike="noStrike" baseline="0" dirty="0">
                <a:solidFill>
                  <a:srgbClr val="000000"/>
                </a:solidFill>
                <a:latin typeface="Aptos" panose="020B0004020202020204" pitchFamily="34" charset="0"/>
              </a:rPr>
              <a:t>Rep</a:t>
            </a:r>
            <a:r>
              <a:rPr lang="es-ES" sz="2000" dirty="0">
                <a:solidFill>
                  <a:srgbClr val="000000"/>
                </a:solidFill>
                <a:latin typeface="Aptos" panose="020B0004020202020204" pitchFamily="34" charset="0"/>
              </a:rPr>
              <a:t>aso de cuestiones relativas a normativa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i="0" u="none" strike="noStrike" baseline="0" dirty="0">
                <a:solidFill>
                  <a:srgbClr val="000000"/>
                </a:solidFill>
                <a:latin typeface="Aptos" panose="020B0004020202020204" pitchFamily="34" charset="0"/>
              </a:rPr>
              <a:t>Próxima reunión 24/09</a:t>
            </a:r>
          </a:p>
          <a:p>
            <a:endParaRPr lang="es-ES" sz="2000" i="0" u="none" strike="noStrike" baseline="0" dirty="0">
              <a:solidFill>
                <a:srgbClr val="000000"/>
              </a:solidFill>
              <a:latin typeface="Aptos" panose="020B0004020202020204" pitchFamily="34" charset="0"/>
            </a:endParaRPr>
          </a:p>
          <a:p>
            <a:r>
              <a:rPr lang="es-ES" sz="2000" dirty="0">
                <a:solidFill>
                  <a:srgbClr val="000000"/>
                </a:solidFill>
                <a:latin typeface="Aptos" panose="020B0004020202020204" pitchFamily="34" charset="0"/>
              </a:rPr>
              <a:t>Pasos a seguir por parte de Circe:</a:t>
            </a:r>
            <a:endParaRPr lang="es-ES" sz="2000" i="0" u="none" strike="noStrike" baseline="0" dirty="0">
              <a:solidFill>
                <a:srgbClr val="000000"/>
              </a:solidFill>
              <a:latin typeface="Aptos" panose="020B0004020202020204" pitchFamily="34" charset="0"/>
            </a:endParaRPr>
          </a:p>
          <a:p>
            <a:pPr lvl="4"/>
            <a:r>
              <a:rPr lang="es-ES" sz="2000" dirty="0">
                <a:solidFill>
                  <a:srgbClr val="000000"/>
                </a:solidFill>
                <a:latin typeface="Aptos" panose="020B0004020202020204" pitchFamily="34" charset="0"/>
              </a:rPr>
              <a:t>	- Revisión de notas reunión</a:t>
            </a:r>
          </a:p>
          <a:p>
            <a:r>
              <a:rPr lang="es-ES" sz="2000" i="0" u="none" strike="noStrike" baseline="0" dirty="0">
                <a:solidFill>
                  <a:srgbClr val="000000"/>
                </a:solidFill>
                <a:latin typeface="Aptos" panose="020B0004020202020204" pitchFamily="34" charset="0"/>
              </a:rPr>
              <a:t>	- </a:t>
            </a:r>
            <a:r>
              <a:rPr lang="es-ES" sz="1800" dirty="0"/>
              <a:t>Conclusiones de si esto se puede hacer con un único lector. Todo parece - indicar que sí</a:t>
            </a:r>
          </a:p>
          <a:p>
            <a:r>
              <a:rPr lang="es-ES" dirty="0"/>
              <a:t>	- </a:t>
            </a:r>
            <a:r>
              <a:rPr lang="es-ES" sz="1800" dirty="0"/>
              <a:t>Diagrama de cómo hacer la gestión de la función de seguridad del bloqueo, si vamos a OSSD</a:t>
            </a:r>
          </a:p>
          <a:p>
            <a:r>
              <a:rPr lang="es-ES" sz="1800" dirty="0"/>
              <a:t>	  hasta dónde hay que llegar. Si las salidas OSSD tienen que estar supervisadas, o pueden ser</a:t>
            </a:r>
          </a:p>
          <a:p>
            <a:r>
              <a:rPr lang="es-ES" sz="1800" dirty="0"/>
              <a:t>	  simplemente dos </a:t>
            </a:r>
            <a:r>
              <a:rPr lang="es-ES" sz="1800" dirty="0" err="1"/>
              <a:t>switchs</a:t>
            </a:r>
            <a:r>
              <a:rPr lang="es-ES" sz="1800" dirty="0"/>
              <a:t> (salidas de relé) que vayan a un relé de seguridad que se encargue</a:t>
            </a:r>
          </a:p>
          <a:p>
            <a:r>
              <a:rPr lang="es-ES" sz="1800" dirty="0"/>
              <a:t>	  de revisar la seguridad de las señales (que no se haya cortocircuitado).</a:t>
            </a:r>
          </a:p>
          <a:p>
            <a:r>
              <a:rPr lang="es-ES" dirty="0"/>
              <a:t>	- </a:t>
            </a:r>
            <a:r>
              <a:rPr lang="es-ES" sz="1800" dirty="0"/>
              <a:t>si el RFID evita que saquemos la señal de relé de puerta cerrada solo necesitaríamos los dos 	 	 relés de salida de detección de bloqueo ya que eso significaría (cerrado y bloqueado). Mirar esto...</a:t>
            </a:r>
          </a:p>
          <a:p>
            <a:r>
              <a:rPr lang="es-ES" sz="1800" dirty="0"/>
              <a:t>	-diagrama para ver si el tema se hace dentro de la cerradura o fuera en el relé de seguridad </a:t>
            </a:r>
          </a:p>
          <a:p>
            <a:endParaRPr lang="es-ES" sz="3600" i="0" u="none" strike="noStrike" baseline="0" dirty="0">
              <a:solidFill>
                <a:srgbClr val="000000"/>
              </a:solidFill>
              <a:latin typeface="Aptos" panose="020B0004020202020204" pitchFamily="34" charset="0"/>
            </a:endParaRPr>
          </a:p>
        </p:txBody>
      </p:sp>
      <p:graphicFrame>
        <p:nvGraphicFramePr>
          <p:cNvPr id="3" name="Objeto 2">
            <a:extLst>
              <a:ext uri="{FF2B5EF4-FFF2-40B4-BE49-F238E27FC236}">
                <a16:creationId xmlns:a16="http://schemas.microsoft.com/office/drawing/2014/main" id="{FBA9A756-87FF-CDB7-A7AB-619C0656FF4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4332726"/>
              </p:ext>
            </p:extLst>
          </p:nvPr>
        </p:nvGraphicFramePr>
        <p:xfrm>
          <a:off x="228600" y="3962400"/>
          <a:ext cx="1147016" cy="16229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4" imgW="4533530" imgH="6415777" progId="Acrobat.Document.DC">
                  <p:embed/>
                </p:oleObj>
              </mc:Choice>
              <mc:Fallback>
                <p:oleObj name="Acrobat Document" r:id="rId4" imgW="4533530" imgH="6415777" progId="Acrobat.Document.DC">
                  <p:embed/>
                  <p:pic>
                    <p:nvPicPr>
                      <p:cNvPr id="3" name="Objeto 2">
                        <a:extLst>
                          <a:ext uri="{FF2B5EF4-FFF2-40B4-BE49-F238E27FC236}">
                            <a16:creationId xmlns:a16="http://schemas.microsoft.com/office/drawing/2014/main" id="{FBA9A756-87FF-CDB7-A7AB-619C0656FF4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28600" y="3962400"/>
                        <a:ext cx="1147016" cy="16229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756467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FFD385-50D6-0A18-509C-0234D27E3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DE7227A2-D512-C289-900B-2C7CA15D94D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68891" y="331318"/>
            <a:ext cx="1465524" cy="571606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BD12A21B-0F87-5009-9654-465E028083F7}"/>
              </a:ext>
            </a:extLst>
          </p:cNvPr>
          <p:cNvSpPr txBox="1"/>
          <p:nvPr/>
        </p:nvSpPr>
        <p:spPr>
          <a:xfrm>
            <a:off x="457200" y="3200400"/>
            <a:ext cx="1087305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4400" b="1" i="0" u="none" strike="noStrike" baseline="0" dirty="0">
                <a:solidFill>
                  <a:srgbClr val="000000"/>
                </a:solidFill>
                <a:latin typeface="Aptos" panose="020B0004020202020204" pitchFamily="34" charset="0"/>
              </a:rPr>
              <a:t>Fin reunión de seguimiento  - 12/09/2025</a:t>
            </a:r>
          </a:p>
        </p:txBody>
      </p:sp>
    </p:spTree>
    <p:extLst>
      <p:ext uri="{BB962C8B-B14F-4D97-AF65-F5344CB8AC3E}">
        <p14:creationId xmlns:p14="http://schemas.microsoft.com/office/powerpoint/2010/main" val="24276941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2529C-1E76-7DFC-58E0-7B38E6983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822E3F16-6D28-B972-8BD2-C9ECCFBB16FC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68891" y="331318"/>
            <a:ext cx="1465524" cy="571606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F62EB0CE-0D56-14C8-1A17-4D7AB40DDD35}"/>
              </a:ext>
            </a:extLst>
          </p:cNvPr>
          <p:cNvSpPr txBox="1"/>
          <p:nvPr/>
        </p:nvSpPr>
        <p:spPr>
          <a:xfrm>
            <a:off x="457200" y="3200400"/>
            <a:ext cx="1087305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4400" b="1" dirty="0">
                <a:solidFill>
                  <a:srgbClr val="000000"/>
                </a:solidFill>
                <a:latin typeface="Aptos" panose="020B0004020202020204" pitchFamily="34" charset="0"/>
              </a:rPr>
              <a:t>R</a:t>
            </a:r>
            <a:r>
              <a:rPr lang="es-ES" sz="4400" b="1" i="0" u="none" strike="noStrike" baseline="0" dirty="0">
                <a:solidFill>
                  <a:srgbClr val="000000"/>
                </a:solidFill>
                <a:latin typeface="Aptos" panose="020B0004020202020204" pitchFamily="34" charset="0"/>
              </a:rPr>
              <a:t>eunión de seguimiento  - </a:t>
            </a:r>
            <a:r>
              <a:rPr lang="es-ES" sz="4400" b="1" dirty="0">
                <a:solidFill>
                  <a:srgbClr val="000000"/>
                </a:solidFill>
                <a:latin typeface="Aptos" panose="020B0004020202020204" pitchFamily="34" charset="0"/>
              </a:rPr>
              <a:t>25</a:t>
            </a:r>
            <a:r>
              <a:rPr lang="es-ES" sz="4400" b="1" i="0" u="none" strike="noStrike" baseline="0" dirty="0">
                <a:solidFill>
                  <a:srgbClr val="000000"/>
                </a:solidFill>
                <a:latin typeface="Aptos" panose="020B0004020202020204" pitchFamily="34" charset="0"/>
              </a:rPr>
              <a:t>/09/2025</a:t>
            </a:r>
          </a:p>
        </p:txBody>
      </p:sp>
    </p:spTree>
    <p:extLst>
      <p:ext uri="{BB962C8B-B14F-4D97-AF65-F5344CB8AC3E}">
        <p14:creationId xmlns:p14="http://schemas.microsoft.com/office/powerpoint/2010/main" val="27957296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500548-67CD-261C-1D7A-13B21F58A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0B694863-DB5C-CC85-D65B-ADF5A3890629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68891" y="331318"/>
            <a:ext cx="1465524" cy="571606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2FFA1959-F22B-6474-72BE-E7A4DB01AC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679" y="891794"/>
            <a:ext cx="11183911" cy="2819794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696DAE31-53CE-649D-1E95-FDB709B7839E}"/>
              </a:ext>
            </a:extLst>
          </p:cNvPr>
          <p:cNvSpPr txBox="1"/>
          <p:nvPr/>
        </p:nvSpPr>
        <p:spPr>
          <a:xfrm>
            <a:off x="457200" y="247789"/>
            <a:ext cx="781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En principio la norma permite el solenoide de doble actuación sin muelle…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F19C3D5-EAB0-43DC-098E-F6AFA3E57C73}"/>
              </a:ext>
            </a:extLst>
          </p:cNvPr>
          <p:cNvSpPr txBox="1"/>
          <p:nvPr/>
        </p:nvSpPr>
        <p:spPr>
          <a:xfrm>
            <a:off x="533400" y="3914719"/>
            <a:ext cx="9599103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Puede complicar la certificación:</a:t>
            </a:r>
          </a:p>
          <a:p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/>
              <a:t>El bloqueo </a:t>
            </a:r>
            <a:r>
              <a:rPr lang="es-ES" sz="1600" b="1" dirty="0"/>
              <a:t>no puede soltarse</a:t>
            </a:r>
            <a:r>
              <a:rPr lang="es-ES" sz="1600" dirty="0"/>
              <a:t> por pérdida de tensión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/>
              <a:t>Ensayo/justificación de </a:t>
            </a:r>
            <a:r>
              <a:rPr lang="es-ES" sz="1600" b="1" dirty="0"/>
              <a:t>fuerza de retención</a:t>
            </a:r>
            <a:r>
              <a:rPr lang="es-ES" sz="1600" dirty="0"/>
              <a:t> suficiente (ISO 14119 apartados de fuerza y retención).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/>
              <a:t>Insensibilidad a vibraciones/impactos (obra = entorno duro).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b="1" dirty="0"/>
              <a:t>Fallos del solenoide</a:t>
            </a:r>
            <a:r>
              <a:rPr lang="es-ES" sz="1600" dirty="0"/>
              <a:t> (pegado, bobina abierta/corto) → </a:t>
            </a:r>
            <a:r>
              <a:rPr lang="es-ES" sz="1600" b="1" dirty="0"/>
              <a:t>diagnóstico</a:t>
            </a:r>
            <a:r>
              <a:rPr lang="es-ES" sz="1600" dirty="0"/>
              <a:t> y estado seguro.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b="1" dirty="0"/>
              <a:t>Fallo de control de potencia</a:t>
            </a:r>
            <a:r>
              <a:rPr lang="es-ES" sz="1600" dirty="0"/>
              <a:t> (driver) → detección y corte.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b="1" dirty="0"/>
              <a:t>EMC/temperatura</a:t>
            </a:r>
            <a:r>
              <a:rPr lang="es-ES" sz="1600" dirty="0"/>
              <a:t> → ensayos que prueben que </a:t>
            </a:r>
            <a:r>
              <a:rPr lang="es-ES" sz="1600" b="1" dirty="0"/>
              <a:t>no se libera</a:t>
            </a:r>
            <a:r>
              <a:rPr lang="es-ES" sz="1600" dirty="0"/>
              <a:t> peligrosamente.</a:t>
            </a:r>
          </a:p>
          <a:p>
            <a:endParaRPr lang="es-E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7587444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9B3A0-A12D-B805-E1D9-D3C14399E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9BBCE66C-C68D-CCD0-F7B1-DBD4BCFE46A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68891" y="331318"/>
            <a:ext cx="1465524" cy="571606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32292407-1901-A389-96B1-694F811DA031}"/>
              </a:ext>
            </a:extLst>
          </p:cNvPr>
          <p:cNvSpPr txBox="1"/>
          <p:nvPr/>
        </p:nvSpPr>
        <p:spPr>
          <a:xfrm>
            <a:off x="457200" y="3200400"/>
            <a:ext cx="11377215" cy="2000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4000" b="1" dirty="0">
                <a:solidFill>
                  <a:srgbClr val="000000"/>
                </a:solidFill>
                <a:latin typeface="Aptos" panose="020B0004020202020204" pitchFamily="34" charset="0"/>
              </a:rPr>
              <a:t>Justificación del cumplimiento de </a:t>
            </a:r>
            <a:r>
              <a:rPr lang="es-ES" sz="4000" b="1" dirty="0" err="1">
                <a:solidFill>
                  <a:srgbClr val="000000"/>
                </a:solidFill>
                <a:latin typeface="Aptos" panose="020B0004020202020204" pitchFamily="34" charset="0"/>
              </a:rPr>
              <a:t>PLd</a:t>
            </a:r>
            <a:r>
              <a:rPr lang="es-ES" sz="4000" b="1" dirty="0">
                <a:solidFill>
                  <a:srgbClr val="000000"/>
                </a:solidFill>
                <a:latin typeface="Aptos" panose="020B0004020202020204" pitchFamily="34" charset="0"/>
              </a:rPr>
              <a:t> con arquitectura basada en 1 RFID + 2 sensores Hall</a:t>
            </a:r>
          </a:p>
          <a:p>
            <a:endParaRPr lang="es-ES" sz="4400" b="1" i="0" u="none" strike="noStrike" baseline="0" dirty="0">
              <a:solidFill>
                <a:srgbClr val="00000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96187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370B3-C37E-1918-710F-686908BDB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CEA2C6EF-AB4D-6796-D606-E4A1CB278612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68891" y="331318"/>
            <a:ext cx="1465524" cy="571606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811E794E-AE58-2E1B-661D-945D528F2D07}"/>
              </a:ext>
            </a:extLst>
          </p:cNvPr>
          <p:cNvSpPr txBox="1"/>
          <p:nvPr/>
        </p:nvSpPr>
        <p:spPr>
          <a:xfrm>
            <a:off x="506083" y="421011"/>
            <a:ext cx="91550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u="sng" dirty="0"/>
              <a:t>Justificación del cumplimiento de </a:t>
            </a:r>
            <a:r>
              <a:rPr lang="es-ES" u="sng" dirty="0" err="1"/>
              <a:t>PLd</a:t>
            </a:r>
            <a:r>
              <a:rPr lang="es-ES" u="sng" dirty="0"/>
              <a:t> con arquitectura basada en RFID + sensores Hall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1D17364B-95F4-FEEF-5927-704CF11862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398" y="1143000"/>
            <a:ext cx="1147001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ES" altLang="es-E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PLr</a:t>
            </a:r>
            <a:r>
              <a:rPr kumimoji="0" lang="es-ES" altLang="es-E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PL d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(análisis de riesgo de l</a:t>
            </a:r>
            <a:r>
              <a:rPr lang="es-ES" dirty="0"/>
              <a:t>a </a:t>
            </a:r>
            <a:r>
              <a:rPr lang="es-ES" b="1" dirty="0"/>
              <a:t>función de seguridad combinada</a:t>
            </a:r>
            <a:r>
              <a:rPr lang="es-ES" dirty="0"/>
              <a:t>:</a:t>
            </a:r>
            <a:br>
              <a:rPr lang="es-ES" dirty="0"/>
            </a:br>
            <a:r>
              <a:rPr lang="es-ES" b="1" dirty="0"/>
              <a:t>“Autorizar la función peligrosa del ascensor sólo si el resguardo (puerta) está cerrado Y bloqueado.”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4E2A8CE6-E4CE-1243-B8E5-44262E0799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133" y="1905000"/>
            <a:ext cx="5257800" cy="4829609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A40B6FA7-DE59-75CE-E487-EACF3FA796EC}"/>
              </a:ext>
            </a:extLst>
          </p:cNvPr>
          <p:cNvSpPr txBox="1"/>
          <p:nvPr/>
        </p:nvSpPr>
        <p:spPr>
          <a:xfrm>
            <a:off x="6019800" y="2819400"/>
            <a:ext cx="609600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1600" dirty="0"/>
              <a:t>“Para la función de seguridad FS-01 ‘permitir movimiento solo si resguardo cerrado y bloqueado’, se ha realizado estimación de riesgo conforme a UNE-EN ISO 13849-1. Dado el escenario de atrapamiento/caída (S2), con exposición frecuente (F2) y posibilidad limitada de evitación por personal formado y velocidad limitada (P1), el riesgo-</a:t>
            </a:r>
            <a:r>
              <a:rPr lang="es-ES" sz="1600" dirty="0" err="1"/>
              <a:t>graph</a:t>
            </a:r>
            <a:r>
              <a:rPr lang="es-ES" sz="1600" dirty="0"/>
              <a:t> conduce a </a:t>
            </a:r>
            <a:r>
              <a:rPr lang="es-ES" sz="1600" b="1" dirty="0" err="1"/>
              <a:t>PLr</a:t>
            </a:r>
            <a:r>
              <a:rPr lang="es-ES" sz="1600" b="1" dirty="0"/>
              <a:t> = d</a:t>
            </a:r>
            <a:r>
              <a:rPr lang="es-ES" sz="1600" dirty="0"/>
              <a:t>. Este </a:t>
            </a:r>
            <a:r>
              <a:rPr lang="es-ES" sz="1600" dirty="0" err="1"/>
              <a:t>PLr</a:t>
            </a:r>
            <a:r>
              <a:rPr lang="es-ES" sz="1600" dirty="0"/>
              <a:t> se asigna a la función combinada; el SRP/CS se diseña y valida para alcanzar PL ≥ d.”</a:t>
            </a:r>
          </a:p>
        </p:txBody>
      </p:sp>
    </p:spTree>
    <p:extLst>
      <p:ext uri="{BB962C8B-B14F-4D97-AF65-F5344CB8AC3E}">
        <p14:creationId xmlns:p14="http://schemas.microsoft.com/office/powerpoint/2010/main" val="29449293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CA2479-BF2B-F886-66FB-FC14428C2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C8222E5E-8BED-75ED-5D91-246DB11E2C0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68891" y="331318"/>
            <a:ext cx="1465524" cy="571606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F8DBED3F-0274-D288-2028-E8CB2C5D8E67}"/>
              </a:ext>
            </a:extLst>
          </p:cNvPr>
          <p:cNvSpPr txBox="1"/>
          <p:nvPr/>
        </p:nvSpPr>
        <p:spPr>
          <a:xfrm>
            <a:off x="506083" y="421011"/>
            <a:ext cx="91550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u="sng" dirty="0"/>
              <a:t>Justificación del cumplimiento de </a:t>
            </a:r>
            <a:r>
              <a:rPr lang="es-ES" u="sng" dirty="0" err="1"/>
              <a:t>PLd</a:t>
            </a:r>
            <a:r>
              <a:rPr lang="es-ES" u="sng" dirty="0"/>
              <a:t> con arquitectura basada en RFID + sensores Hall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F0866C5A-8E5C-ACCD-2C20-7DDEB0BBC0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398" y="1281499"/>
            <a:ext cx="1147001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ES" altLang="es-E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Definición de la función de seguridad y arquitectura</a:t>
            </a: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D3C40AD-93AD-BCD5-FAF7-C6FAE372593E}"/>
              </a:ext>
            </a:extLst>
          </p:cNvPr>
          <p:cNvSpPr txBox="1"/>
          <p:nvPr/>
        </p:nvSpPr>
        <p:spPr>
          <a:xfrm>
            <a:off x="360991" y="1905000"/>
            <a:ext cx="1147001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b="1" dirty="0"/>
              <a:t>Función de seguridad (FS):</a:t>
            </a:r>
            <a:r>
              <a:rPr lang="es-ES" dirty="0"/>
              <a:t> “Autorizar/permitir la función peligrosa </a:t>
            </a:r>
            <a:r>
              <a:rPr lang="es-ES" b="1" dirty="0"/>
              <a:t>sólo si</a:t>
            </a:r>
            <a:r>
              <a:rPr lang="es-ES" dirty="0"/>
              <a:t> (A) </a:t>
            </a:r>
            <a:r>
              <a:rPr lang="es-ES" i="1" dirty="0"/>
              <a:t>resguardo cerrado</a:t>
            </a:r>
            <a:r>
              <a:rPr lang="es-ES" dirty="0"/>
              <a:t> AND (B) </a:t>
            </a:r>
            <a:r>
              <a:rPr lang="es-ES" i="1" dirty="0"/>
              <a:t>bloqueo acoplado</a:t>
            </a:r>
            <a:r>
              <a:rPr lang="es-ES" dirty="0"/>
              <a:t>”.</a:t>
            </a:r>
          </a:p>
          <a:p>
            <a:pPr>
              <a:buNone/>
            </a:pP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Subfunción A (cierre de resguardo):</a:t>
            </a:r>
            <a:r>
              <a:rPr lang="es-ES" dirty="0"/>
              <a:t> 1 sensor RFID 125 kHz (canal único).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Subfunción B (bloqueo):</a:t>
            </a:r>
            <a:r>
              <a:rPr lang="es-ES" dirty="0"/>
              <a:t> 2 sensores Hall </a:t>
            </a:r>
            <a:r>
              <a:rPr lang="es-ES" b="1" dirty="0"/>
              <a:t>analógicos</a:t>
            </a:r>
            <a:r>
              <a:rPr lang="es-ES" dirty="0"/>
              <a:t> redundantes con coherencia/ventanas (categoría prevista </a:t>
            </a:r>
            <a:r>
              <a:rPr lang="es-ES" b="1" dirty="0"/>
              <a:t>Cat.3</a:t>
            </a:r>
            <a:r>
              <a:rPr lang="es-ES" dirty="0"/>
              <a:t> por redundancia + diagnóstico).</a:t>
            </a:r>
          </a:p>
          <a:p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Lógica:</a:t>
            </a:r>
            <a:r>
              <a:rPr lang="es-ES" dirty="0"/>
              <a:t> MCU de seguridad/arquitectura controlada que hace AND (A∧B) y gobierna las </a:t>
            </a:r>
            <a:r>
              <a:rPr lang="es-ES" b="1" dirty="0"/>
              <a:t>salidas OSSD</a:t>
            </a:r>
            <a:r>
              <a:rPr lang="es-ES" dirty="0"/>
              <a:t>.</a:t>
            </a:r>
          </a:p>
          <a:p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Conformidad de la salida del dispositivo de bloqueo con ISO 13849-1:</a:t>
            </a:r>
            <a:r>
              <a:rPr lang="es-ES" dirty="0"/>
              <a:t> ISO 14119 §5.5.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1B1FC67B-8D03-3B84-FC8E-D192348B30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4910326"/>
            <a:ext cx="9683091" cy="1332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3286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CF42E-230A-D98C-4256-944FF09DF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CD19525A-394D-9DE1-70C7-D10EEEC7683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68891" y="331318"/>
            <a:ext cx="1465524" cy="571606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A683A7BA-DF29-7F15-765A-AE6CA4A7D8F5}"/>
              </a:ext>
            </a:extLst>
          </p:cNvPr>
          <p:cNvSpPr txBox="1"/>
          <p:nvPr/>
        </p:nvSpPr>
        <p:spPr>
          <a:xfrm>
            <a:off x="506083" y="421011"/>
            <a:ext cx="91550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u="sng" dirty="0"/>
              <a:t>Justificación del cumplimiento de </a:t>
            </a:r>
            <a:r>
              <a:rPr lang="es-ES" u="sng" dirty="0" err="1"/>
              <a:t>PLd</a:t>
            </a:r>
            <a:r>
              <a:rPr lang="es-ES" u="sng" dirty="0"/>
              <a:t> con arquitectura basada en RFID + sensores Hall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8302FE8-B4A2-A79E-4719-B06A293390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215" y="1016581"/>
            <a:ext cx="1147001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ES" altLang="es-E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 debe justificar</a:t>
            </a: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0739A6E-EE6B-1BE2-8AFA-65676353F048}"/>
              </a:ext>
            </a:extLst>
          </p:cNvPr>
          <p:cNvSpPr txBox="1"/>
          <p:nvPr/>
        </p:nvSpPr>
        <p:spPr>
          <a:xfrm>
            <a:off x="322214" y="1587989"/>
            <a:ext cx="1147001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b="1" dirty="0" err="1"/>
              <a:t>MTTF_d</a:t>
            </a:r>
            <a:r>
              <a:rPr lang="es-ES" b="1" dirty="0"/>
              <a:t> (por cada canal y subfunción):Método/orden de prioridad</a:t>
            </a:r>
            <a:r>
              <a:rPr lang="es-ES" dirty="0"/>
              <a:t> para estimar </a:t>
            </a:r>
            <a:r>
              <a:rPr lang="es-ES" dirty="0" err="1"/>
              <a:t>MTTF_d</a:t>
            </a:r>
            <a:r>
              <a:rPr lang="es-ES" dirty="0"/>
              <a:t> (datos del fabricante; métodos de Anexo C; límites y bandas): ISO 13849-1 §6.1.4 y </a:t>
            </a:r>
            <a:r>
              <a:rPr lang="es-ES" b="1" dirty="0"/>
              <a:t>Tabla 6</a:t>
            </a:r>
            <a:r>
              <a:rPr lang="es-ES" dirty="0"/>
              <a:t> (bandas “baja/</a:t>
            </a:r>
            <a:r>
              <a:rPr lang="es-ES" dirty="0" err="1"/>
              <a:t>med</a:t>
            </a:r>
            <a:r>
              <a:rPr lang="es-ES" dirty="0"/>
              <a:t>/alta”; límite superior por canal = </a:t>
            </a:r>
            <a:r>
              <a:rPr lang="es-ES" b="1" dirty="0"/>
              <a:t>100 años</a:t>
            </a:r>
            <a:r>
              <a:rPr lang="es-ES" dirty="0"/>
              <a:t>).</a:t>
            </a:r>
            <a:r>
              <a:rPr lang="es-ES" b="1" dirty="0"/>
              <a:t> </a:t>
            </a:r>
            <a:endParaRPr lang="es-E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88882C5-8062-A5A4-CEB9-E19045391D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739" y="2592356"/>
            <a:ext cx="11793586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algn="l" rtl="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s-ES" altLang="es-E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RFID (Subfunción A):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 asume </a:t>
            </a:r>
            <a:r>
              <a:rPr kumimoji="0" lang="es-ES" altLang="es-E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MTTF_d</a:t>
            </a:r>
            <a:r>
              <a:rPr kumimoji="0" lang="es-ES" altLang="es-E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10 años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(Si no hay datos del proveedor, según se define en la Tabla 6). Intentar asumir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MTTFd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entre [30-100]*</a:t>
            </a:r>
          </a:p>
          <a:p>
            <a:pPr marL="342900" indent="-342900" algn="l" rtl="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s-ES" altLang="es-E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Hall 1 y Hall 2 (Subfunción B):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si el fabricante declara B10d alto /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MTTF_d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elevado, se puede situar en </a:t>
            </a:r>
            <a:r>
              <a:rPr kumimoji="0" lang="es-ES" altLang="es-E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60–100 años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lang="es-ES" altLang="es-ES" dirty="0">
                <a:solidFill>
                  <a:schemeClr val="tx1"/>
                </a:solidFill>
                <a:latin typeface="Arial" panose="020B0604020202020204" pitchFamily="34" charset="0"/>
              </a:rPr>
              <a:t>hay un </a:t>
            </a:r>
            <a:r>
              <a:rPr kumimoji="0" lang="es-ES" altLang="es-E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tope de 100 años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por canal*). Si no, se usa un valor prudente (p.ej., </a:t>
            </a:r>
            <a:r>
              <a:rPr kumimoji="0" lang="es-ES" altLang="es-E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60 años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y </a:t>
            </a:r>
            <a:r>
              <a:rPr lang="es-ES" altLang="es-ES" dirty="0">
                <a:solidFill>
                  <a:schemeClr val="tx1"/>
                </a:solidFill>
                <a:latin typeface="Arial" panose="020B0604020202020204" pitchFamily="34" charset="0"/>
              </a:rPr>
              <a:t>hay que 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documentar cómo se obtuvo (datos de campo, B10d-ciclos, etc., según §6.1.4).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A812A5DF-F269-CF7E-1F6E-591BC0677E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508" y="4427719"/>
            <a:ext cx="114300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Nota: En Cat. 3 y 4, ISO 13849-1 </a:t>
            </a:r>
            <a:r>
              <a:rPr kumimoji="0" lang="es-ES" altLang="es-E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limita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MTTF_d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por canal a </a:t>
            </a:r>
            <a:r>
              <a:rPr kumimoji="0" lang="es-ES" altLang="es-E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100 años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 además te pide combinar canales y calcular el </a:t>
            </a:r>
            <a:r>
              <a:rPr kumimoji="0" lang="es-ES" altLang="es-E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PFH_D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del subsistema/sistema (ecuaciones del Anexo K). 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DBB27A9-EC15-4B4D-CDF2-10FE64D526D0}"/>
              </a:ext>
            </a:extLst>
          </p:cNvPr>
          <p:cNvSpPr txBox="1"/>
          <p:nvPr/>
        </p:nvSpPr>
        <p:spPr>
          <a:xfrm>
            <a:off x="761322" y="5553125"/>
            <a:ext cx="10591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200" b="1" dirty="0"/>
              <a:t>*¿Podemos asumir </a:t>
            </a:r>
            <a:r>
              <a:rPr lang="es-ES" sz="1200" b="1" dirty="0" err="1"/>
              <a:t>MTTFd</a:t>
            </a:r>
            <a:r>
              <a:rPr lang="es-ES" sz="1200" b="1" dirty="0"/>
              <a:t> entre [30–100]?</a:t>
            </a:r>
            <a:br>
              <a:rPr lang="es-ES" sz="1200" dirty="0"/>
            </a:br>
            <a:r>
              <a:rPr lang="es-ES" sz="1200" dirty="0"/>
              <a:t>- Sí, </a:t>
            </a:r>
            <a:r>
              <a:rPr lang="es-ES" sz="1200" b="1" dirty="0"/>
              <a:t>si se argumenta que el RFID es un componente electrónico simple, sin partes móviles, de tecnología consolidada</a:t>
            </a:r>
            <a:r>
              <a:rPr lang="es-ES" sz="1200" dirty="0"/>
              <a:t>, pero hay que documentar la justificación en línea con valores típicos del Anexo C de ISO 13849-1:2024</a:t>
            </a:r>
          </a:p>
        </p:txBody>
      </p:sp>
    </p:spTree>
    <p:extLst>
      <p:ext uri="{BB962C8B-B14F-4D97-AF65-F5344CB8AC3E}">
        <p14:creationId xmlns:p14="http://schemas.microsoft.com/office/powerpoint/2010/main" val="35467903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261648-2C54-7D05-9A7E-810098695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4420A7AE-0A38-E0ED-F444-E0EDAECC761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68891" y="331318"/>
            <a:ext cx="1465524" cy="571606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A3458DB5-4FA5-1989-0392-27B8CCBCBCF8}"/>
              </a:ext>
            </a:extLst>
          </p:cNvPr>
          <p:cNvSpPr txBox="1"/>
          <p:nvPr/>
        </p:nvSpPr>
        <p:spPr>
          <a:xfrm>
            <a:off x="506083" y="421011"/>
            <a:ext cx="91550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u="sng" dirty="0"/>
              <a:t>Justificación del cumplimiento de </a:t>
            </a:r>
            <a:r>
              <a:rPr lang="es-ES" u="sng" dirty="0" err="1"/>
              <a:t>PLd</a:t>
            </a:r>
            <a:r>
              <a:rPr lang="es-ES" u="sng" dirty="0"/>
              <a:t> con arquitectura basada en RFID + sensores Hall</a:t>
            </a: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248551DB-5A0F-9107-83F2-26D0B8FFF3A4}"/>
              </a:ext>
            </a:extLst>
          </p:cNvPr>
          <p:cNvGrpSpPr/>
          <p:nvPr/>
        </p:nvGrpSpPr>
        <p:grpSpPr>
          <a:xfrm>
            <a:off x="52509" y="924328"/>
            <a:ext cx="6553200" cy="5642246"/>
            <a:chOff x="2286000" y="1049655"/>
            <a:chExt cx="6553200" cy="5642246"/>
          </a:xfrm>
        </p:grpSpPr>
        <p:pic>
          <p:nvPicPr>
            <p:cNvPr id="4" name="Imagen 3">
              <a:extLst>
                <a:ext uri="{FF2B5EF4-FFF2-40B4-BE49-F238E27FC236}">
                  <a16:creationId xmlns:a16="http://schemas.microsoft.com/office/drawing/2014/main" id="{85B2FFED-A389-944C-1EDE-38C2CCDB8C2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62200" y="1049655"/>
              <a:ext cx="6477000" cy="1212032"/>
            </a:xfrm>
            <a:prstGeom prst="rect">
              <a:avLst/>
            </a:prstGeom>
          </p:spPr>
        </p:pic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055C29F1-8816-F3DE-3BBB-1774B698534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2346"/>
            <a:stretch>
              <a:fillRect/>
            </a:stretch>
          </p:blipFill>
          <p:spPr>
            <a:xfrm>
              <a:off x="2286000" y="2057400"/>
              <a:ext cx="6400800" cy="4634501"/>
            </a:xfrm>
            <a:prstGeom prst="rect">
              <a:avLst/>
            </a:prstGeom>
          </p:spPr>
        </p:pic>
      </p:grpSp>
      <p:pic>
        <p:nvPicPr>
          <p:cNvPr id="11" name="Imagen 10">
            <a:extLst>
              <a:ext uri="{FF2B5EF4-FFF2-40B4-BE49-F238E27FC236}">
                <a16:creationId xmlns:a16="http://schemas.microsoft.com/office/drawing/2014/main" id="{CF202363-25A8-7C02-C238-1D86658373C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958" r="3694"/>
          <a:stretch>
            <a:fillRect/>
          </a:stretch>
        </p:blipFill>
        <p:spPr>
          <a:xfrm>
            <a:off x="6407931" y="1932073"/>
            <a:ext cx="5414497" cy="3082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883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71F417-F70A-40C1-559C-5B24FA4C5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07F8A0A4-BDF3-7658-753D-7350093E653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68891" y="331318"/>
            <a:ext cx="1465524" cy="571606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9B94DCE3-4111-8A75-7B20-C30CE6601386}"/>
              </a:ext>
            </a:extLst>
          </p:cNvPr>
          <p:cNvSpPr txBox="1"/>
          <p:nvPr/>
        </p:nvSpPr>
        <p:spPr>
          <a:xfrm>
            <a:off x="506083" y="421011"/>
            <a:ext cx="91550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u="sng" dirty="0"/>
              <a:t>Justificación del cumplimiento de </a:t>
            </a:r>
            <a:r>
              <a:rPr lang="es-ES" u="sng" dirty="0" err="1"/>
              <a:t>PLd</a:t>
            </a:r>
            <a:r>
              <a:rPr lang="es-ES" u="sng" dirty="0"/>
              <a:t> con arquitectura basada en RFID + sensores Hall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8AA9C0E-1FE5-5371-43BD-F2B09AA9E0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215" y="1016581"/>
            <a:ext cx="1147001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ES" altLang="es-E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 debe justificar</a:t>
            </a: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E20E1C9-32E6-0AE6-5628-4D4D57131C0B}"/>
              </a:ext>
            </a:extLst>
          </p:cNvPr>
          <p:cNvSpPr txBox="1"/>
          <p:nvPr/>
        </p:nvSpPr>
        <p:spPr>
          <a:xfrm>
            <a:off x="299498" y="1499570"/>
            <a:ext cx="114700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 err="1"/>
              <a:t>DC_avg</a:t>
            </a:r>
            <a:r>
              <a:rPr lang="pt-BR" b="1" dirty="0"/>
              <a:t> (Cobertura de diagnóstico)</a:t>
            </a:r>
            <a:endParaRPr lang="es-ES" b="1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EF14D866-DF9F-368F-CE02-EFDDC7D692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615" y="2362200"/>
            <a:ext cx="11599815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 </a:t>
            </a:r>
            <a:r>
              <a:rPr kumimoji="0" lang="es-ES" altLang="es-E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DC_avg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 estima según el </a:t>
            </a:r>
            <a:r>
              <a:rPr kumimoji="0" lang="es-ES" altLang="es-E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Anexo E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la </a:t>
            </a:r>
            <a:r>
              <a:rPr lang="es-ES" altLang="es-ES" b="1" dirty="0">
                <a:solidFill>
                  <a:schemeClr val="tx1"/>
                </a:solidFill>
                <a:latin typeface="Arial" panose="020B0604020202020204" pitchFamily="34" charset="0"/>
              </a:rPr>
              <a:t>13849_1</a:t>
            </a:r>
            <a:r>
              <a:rPr lang="es-ES" altLang="es-ES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 tablas/guías para técnicas de diagnóstico (coherencia, rangos, detección de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stuck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-at, rotura de cable, supervisión temporal, etc.).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Hay que documentar </a:t>
            </a:r>
            <a:r>
              <a:rPr lang="es-ES" altLang="es-ES" dirty="0">
                <a:solidFill>
                  <a:schemeClr val="tx1"/>
                </a:solidFill>
                <a:latin typeface="Arial" panose="020B0604020202020204" pitchFamily="34" charset="0"/>
              </a:rPr>
              <a:t>la 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lista de diagnósticos y según el </a:t>
            </a:r>
            <a:r>
              <a:rPr kumimoji="0" lang="es-ES" altLang="es-E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Anexo E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para justificar </a:t>
            </a:r>
            <a:r>
              <a:rPr kumimoji="0" lang="es-ES" altLang="es-E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DC_avg</a:t>
            </a:r>
            <a:r>
              <a:rPr kumimoji="0" lang="es-ES" altLang="es-E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la Subfunción B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(Hall redundante).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Para el </a:t>
            </a:r>
            <a:r>
              <a:rPr kumimoji="0" lang="es-ES" altLang="es-E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RFID único (Subfunción A)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si se implementan </a:t>
            </a:r>
            <a:r>
              <a:rPr kumimoji="0" lang="es-ES" altLang="es-E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diagnósticos básicos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(p.ej., test de plausibilidad/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timeout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ventana temporal, supervisión de línea) se puede justificar un </a:t>
            </a:r>
            <a:r>
              <a:rPr kumimoji="0" lang="es-ES" altLang="es-E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DC_avg</a:t>
            </a:r>
            <a:r>
              <a:rPr kumimoji="0" lang="es-ES" altLang="es-E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“bajo-medio”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Si no, se considera </a:t>
            </a:r>
            <a:r>
              <a:rPr kumimoji="0" lang="es-ES" altLang="es-E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DC_avg</a:t>
            </a:r>
            <a:r>
              <a:rPr kumimoji="0" lang="es-ES" altLang="es-E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bajo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para A y se compensa con la Subfunción B y la </a:t>
            </a:r>
            <a:r>
              <a:rPr kumimoji="0" lang="es-ES" altLang="es-E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lógica AND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 la evaluación global.</a:t>
            </a:r>
          </a:p>
        </p:txBody>
      </p:sp>
    </p:spTree>
    <p:extLst>
      <p:ext uri="{BB962C8B-B14F-4D97-AF65-F5344CB8AC3E}">
        <p14:creationId xmlns:p14="http://schemas.microsoft.com/office/powerpoint/2010/main" val="34435263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30773-4799-910E-1D12-CBAD9D626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2A0D2BEC-C424-65F1-082D-033F9E17268F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68891" y="331318"/>
            <a:ext cx="1465524" cy="571606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3D446AEE-5D3E-C73B-A498-D95E8B7E6288}"/>
              </a:ext>
            </a:extLst>
          </p:cNvPr>
          <p:cNvSpPr txBox="1"/>
          <p:nvPr/>
        </p:nvSpPr>
        <p:spPr>
          <a:xfrm>
            <a:off x="506083" y="421011"/>
            <a:ext cx="91550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u="sng" dirty="0"/>
              <a:t>Justificación del cumplimiento de </a:t>
            </a:r>
            <a:r>
              <a:rPr lang="es-ES" u="sng" dirty="0" err="1"/>
              <a:t>PLd</a:t>
            </a:r>
            <a:r>
              <a:rPr lang="es-ES" u="sng" dirty="0"/>
              <a:t> con arquitectura basada en RFID + sensores Hall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83895D36-0B67-2829-2080-AE2C7A20CD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066800"/>
            <a:ext cx="4953000" cy="5085164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4F49E38C-24E9-8F58-507F-FEC2844763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0" y="1219200"/>
            <a:ext cx="5562600" cy="1776164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FA17BD36-D621-688C-8F51-615FA136B8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1277" y="3414696"/>
            <a:ext cx="5223105" cy="2479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7128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E20A8B-CF8A-31F8-72CF-429AD4941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8FB8FAE1-ED02-854E-0913-BE8A33BD0EB2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68891" y="331318"/>
            <a:ext cx="1465524" cy="571606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8A3B4626-0F7A-0DD3-F278-995216DF15C4}"/>
              </a:ext>
            </a:extLst>
          </p:cNvPr>
          <p:cNvSpPr txBox="1"/>
          <p:nvPr/>
        </p:nvSpPr>
        <p:spPr>
          <a:xfrm>
            <a:off x="506083" y="421011"/>
            <a:ext cx="91550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u="sng" dirty="0"/>
              <a:t>Justificación del cumplimiento de </a:t>
            </a:r>
            <a:r>
              <a:rPr lang="es-ES" u="sng" dirty="0" err="1"/>
              <a:t>PLd</a:t>
            </a:r>
            <a:r>
              <a:rPr lang="es-ES" u="sng" dirty="0"/>
              <a:t> con arquitectura basada en RFID + sensores Hall</a:t>
            </a: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EAFD9B34-05CF-1763-D101-D407E79FD2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2414360"/>
              </p:ext>
            </p:extLst>
          </p:nvPr>
        </p:nvGraphicFramePr>
        <p:xfrm>
          <a:off x="762000" y="1219200"/>
          <a:ext cx="10058400" cy="40386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216443629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461285686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324450274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1463447939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4111584203"/>
                    </a:ext>
                  </a:extLst>
                </a:gridCol>
              </a:tblGrid>
              <a:tr h="5312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/>
                        <a:t>Fallo peligroso típico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/>
                        <a:t>Medida de diagnóstico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/>
                        <a:t>Cobertura (Tabla E.1)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/>
                        <a:t>Clasificación (Tabla 7)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/>
                        <a:t>Justificación normativa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5055635"/>
                  </a:ext>
                </a:extLst>
              </a:tr>
              <a:tr h="6441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 dirty="0"/>
                        <a:t>No detecta el tag estando presente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/>
                        <a:t>Supervisión de tiempo (timeout)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/>
                        <a:t>60 %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 b="1"/>
                        <a:t>DC baja</a:t>
                      </a:r>
                      <a:endParaRPr lang="es-E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/>
                        <a:t>Anexo E.1: “supervisión de tiempos/señal”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6749489"/>
                  </a:ext>
                </a:extLst>
              </a:tr>
              <a:tr h="6907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/>
                        <a:t>Detecta tag aunque no esté (falso positivo por perturbación)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 dirty="0"/>
                        <a:t>UID único + plausibilidad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/>
                        <a:t>60 %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 b="1"/>
                        <a:t>DC baja</a:t>
                      </a:r>
                      <a:endParaRPr lang="es-E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/>
                        <a:t>Anexo E.1: control de plausibilidad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4830648"/>
                  </a:ext>
                </a:extLst>
              </a:tr>
              <a:tr h="6907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/>
                        <a:t>Señal atascada en 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/>
                        <a:t>Ensayo cíclico (presentación/retirada periódica)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/>
                        <a:t>90 %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 b="1"/>
                        <a:t>DC media</a:t>
                      </a:r>
                      <a:endParaRPr lang="es-E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/>
                        <a:t>Anexo E.1: “estímulo cíclico”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331745"/>
                  </a:ext>
                </a:extLst>
              </a:tr>
              <a:tr h="6441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/>
                        <a:t>Pérdida de cableado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/>
                        <a:t>Supervisión de línea (cortocircuito/interrupción)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/>
                        <a:t>90 %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 b="1"/>
                        <a:t>DC media</a:t>
                      </a:r>
                      <a:endParaRPr lang="es-E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/>
                        <a:t>Anexo E.1: “supervisión de línea”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9425776"/>
                  </a:ext>
                </a:extLst>
              </a:tr>
              <a:tr h="8375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 dirty="0"/>
                        <a:t>Fallo peligroso típico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/>
                        <a:t>Medida de diagnóstico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/>
                        <a:t>Cobertura (Tabla E.1)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/>
                        <a:t>Clasificación (Tabla 7)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 dirty="0"/>
                        <a:t>Justificación normativa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4969520"/>
                  </a:ext>
                </a:extLst>
              </a:tr>
            </a:tbl>
          </a:graphicData>
        </a:graphic>
      </p:graphicFrame>
      <p:sp>
        <p:nvSpPr>
          <p:cNvPr id="5" name="CuadroTexto 4">
            <a:extLst>
              <a:ext uri="{FF2B5EF4-FFF2-40B4-BE49-F238E27FC236}">
                <a16:creationId xmlns:a16="http://schemas.microsoft.com/office/drawing/2014/main" id="{53991369-CF90-1A5D-BD10-C12BF20DFF69}"/>
              </a:ext>
            </a:extLst>
          </p:cNvPr>
          <p:cNvSpPr txBox="1"/>
          <p:nvPr/>
        </p:nvSpPr>
        <p:spPr>
          <a:xfrm>
            <a:off x="762000" y="84986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RFID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8D219E6-76F1-FD62-191A-3A3D869DB14E}"/>
              </a:ext>
            </a:extLst>
          </p:cNvPr>
          <p:cNvSpPr txBox="1"/>
          <p:nvPr/>
        </p:nvSpPr>
        <p:spPr>
          <a:xfrm>
            <a:off x="1266825" y="5468034"/>
            <a:ext cx="734377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200" b="1" dirty="0"/>
              <a:t>Resultado RFID (conjunto):</a:t>
            </a:r>
          </a:p>
          <a:p>
            <a:br>
              <a:rPr lang="es-ES" sz="1200" dirty="0"/>
            </a:br>
            <a:r>
              <a:rPr lang="es-ES" sz="1200" dirty="0"/>
              <a:t>- Si se aplica </a:t>
            </a:r>
            <a:r>
              <a:rPr lang="es-ES" sz="1200" b="1" dirty="0"/>
              <a:t>solo plausibilidad y supervisión de tiempos</a:t>
            </a:r>
            <a:r>
              <a:rPr lang="es-ES" sz="1200" dirty="0"/>
              <a:t> → DC baja (≈60 %).</a:t>
            </a:r>
            <a:br>
              <a:rPr lang="es-ES" sz="1200" dirty="0"/>
            </a:br>
            <a:r>
              <a:rPr lang="es-ES" sz="1200" dirty="0"/>
              <a:t>- Si se añade </a:t>
            </a:r>
            <a:r>
              <a:rPr lang="es-ES" sz="1200" b="1" dirty="0"/>
              <a:t>ensayo cíclico + supervisión de línea</a:t>
            </a:r>
            <a:r>
              <a:rPr lang="es-ES" sz="1200" dirty="0"/>
              <a:t> → DC media (≈90 %).</a:t>
            </a:r>
          </a:p>
        </p:txBody>
      </p:sp>
    </p:spTree>
    <p:extLst>
      <p:ext uri="{BB962C8B-B14F-4D97-AF65-F5344CB8AC3E}">
        <p14:creationId xmlns:p14="http://schemas.microsoft.com/office/powerpoint/2010/main" val="28940672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AD396-3085-DC38-18EC-A98A0606F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F2E3EEB2-D464-F0B4-3008-7CE14A4B4B8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68891" y="331318"/>
            <a:ext cx="1465524" cy="571606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1D398D59-C7D9-039B-ECFF-2318C28536C1}"/>
              </a:ext>
            </a:extLst>
          </p:cNvPr>
          <p:cNvSpPr txBox="1"/>
          <p:nvPr/>
        </p:nvSpPr>
        <p:spPr>
          <a:xfrm>
            <a:off x="506083" y="421011"/>
            <a:ext cx="91550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u="sng" dirty="0"/>
              <a:t>Justificación del cumplimiento de </a:t>
            </a:r>
            <a:r>
              <a:rPr lang="es-ES" u="sng" dirty="0" err="1"/>
              <a:t>PLd</a:t>
            </a:r>
            <a:r>
              <a:rPr lang="es-ES" u="sng" dirty="0"/>
              <a:t> con arquitectura basada en RFID + sensores Hall</a:t>
            </a: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6F44E560-902B-0CA4-005E-366746A630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09333"/>
              </p:ext>
            </p:extLst>
          </p:nvPr>
        </p:nvGraphicFramePr>
        <p:xfrm>
          <a:off x="1590675" y="1483651"/>
          <a:ext cx="7543800" cy="3521365"/>
        </p:xfrm>
        <a:graphic>
          <a:graphicData uri="http://schemas.openxmlformats.org/drawingml/2006/table">
            <a:tbl>
              <a:tblPr/>
              <a:tblGrid>
                <a:gridCol w="1885950">
                  <a:extLst>
                    <a:ext uri="{9D8B030D-6E8A-4147-A177-3AD203B41FA5}">
                      <a16:colId xmlns:a16="http://schemas.microsoft.com/office/drawing/2014/main" val="1182399411"/>
                    </a:ext>
                  </a:extLst>
                </a:gridCol>
                <a:gridCol w="1885950">
                  <a:extLst>
                    <a:ext uri="{9D8B030D-6E8A-4147-A177-3AD203B41FA5}">
                      <a16:colId xmlns:a16="http://schemas.microsoft.com/office/drawing/2014/main" val="127674859"/>
                    </a:ext>
                  </a:extLst>
                </a:gridCol>
                <a:gridCol w="1885950">
                  <a:extLst>
                    <a:ext uri="{9D8B030D-6E8A-4147-A177-3AD203B41FA5}">
                      <a16:colId xmlns:a16="http://schemas.microsoft.com/office/drawing/2014/main" val="2425348430"/>
                    </a:ext>
                  </a:extLst>
                </a:gridCol>
                <a:gridCol w="1885950">
                  <a:extLst>
                    <a:ext uri="{9D8B030D-6E8A-4147-A177-3AD203B41FA5}">
                      <a16:colId xmlns:a16="http://schemas.microsoft.com/office/drawing/2014/main" val="3442134490"/>
                    </a:ext>
                  </a:extLst>
                </a:gridCol>
              </a:tblGrid>
              <a:tr h="3703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/>
                        <a:t>Fallo peligroso típico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/>
                        <a:t>Medida de diagnóstico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/>
                        <a:t>Cobertura (Tabla E.1)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/>
                        <a:t>Clasificación (Tabla 7)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3579158"/>
                  </a:ext>
                </a:extLst>
              </a:tr>
              <a:tr h="5265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/>
                        <a:t>Hall1 y Hall2 incoherentes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/>
                        <a:t>Plausibilidad cruzada (comparación)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/>
                        <a:t>90 %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b="1"/>
                        <a:t>DC media</a:t>
                      </a:r>
                      <a:endParaRPr lang="es-E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1311127"/>
                  </a:ext>
                </a:extLst>
              </a:tr>
              <a:tr h="5265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/>
                        <a:t>Señal fuera de rango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/>
                        <a:t>Supervisión de límites analógicos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/>
                        <a:t>60 %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b="1"/>
                        <a:t>DC baja</a:t>
                      </a:r>
                      <a:endParaRPr lang="es-E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1417601"/>
                  </a:ext>
                </a:extLst>
              </a:tr>
              <a:tr h="5265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/>
                        <a:t>Señal atascada (stuck-at)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/>
                        <a:t>Ensayo cíclico de respuesta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/>
                        <a:t>90 %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b="1"/>
                        <a:t>DC media</a:t>
                      </a:r>
                      <a:endParaRPr lang="es-E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0745648"/>
                  </a:ext>
                </a:extLst>
              </a:tr>
              <a:tr h="5265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/>
                        <a:t>Rotura/corto en cable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/>
                        <a:t>Supervisión de línea + coherencia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/>
                        <a:t>90 %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b="1"/>
                        <a:t>DC media</a:t>
                      </a:r>
                      <a:endParaRPr lang="es-E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8547326"/>
                  </a:ext>
                </a:extLst>
              </a:tr>
              <a:tr h="5265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/>
                        <a:t>Fallo peligroso típico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/>
                        <a:t>Medida de diagnóstico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/>
                        <a:t>Cobertura (Tabla E.1)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/>
                        <a:t>Clasificación (Tabla 7)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4273780"/>
                  </a:ext>
                </a:extLst>
              </a:tr>
              <a:tr h="4858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/>
                        <a:t>Hall1 y Hall2 incoherentes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/>
                        <a:t>Plausibilidad cruzada (comparación)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/>
                        <a:t>90 %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b="1" dirty="0"/>
                        <a:t>DC media</a:t>
                      </a:r>
                      <a:endParaRPr lang="es-E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5675963"/>
                  </a:ext>
                </a:extLst>
              </a:tr>
            </a:tbl>
          </a:graphicData>
        </a:graphic>
      </p:graphicFrame>
      <p:sp>
        <p:nvSpPr>
          <p:cNvPr id="9" name="CuadroTexto 8">
            <a:extLst>
              <a:ext uri="{FF2B5EF4-FFF2-40B4-BE49-F238E27FC236}">
                <a16:creationId xmlns:a16="http://schemas.microsoft.com/office/drawing/2014/main" id="{D56AFFCE-2AB1-005F-C5F2-1FB0EF965FB8}"/>
              </a:ext>
            </a:extLst>
          </p:cNvPr>
          <p:cNvSpPr txBox="1"/>
          <p:nvPr/>
        </p:nvSpPr>
        <p:spPr>
          <a:xfrm>
            <a:off x="762000" y="95816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Bloqueo redundante (2 sensores Hall)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613667AF-E43C-2069-8FCF-DC5316ADD88E}"/>
              </a:ext>
            </a:extLst>
          </p:cNvPr>
          <p:cNvSpPr txBox="1"/>
          <p:nvPr/>
        </p:nvSpPr>
        <p:spPr>
          <a:xfrm>
            <a:off x="1447800" y="5375158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200" b="1" dirty="0"/>
              <a:t>Resultado Hall (conjunto):</a:t>
            </a:r>
          </a:p>
          <a:p>
            <a:br>
              <a:rPr lang="es-ES" sz="1200" dirty="0"/>
            </a:br>
            <a:r>
              <a:rPr lang="es-ES" sz="1200" dirty="0"/>
              <a:t> - Con coherencia + ensayo cíclico → DC media (≈90 %).</a:t>
            </a:r>
            <a:br>
              <a:rPr lang="es-ES" sz="1200" dirty="0"/>
            </a:br>
            <a:r>
              <a:rPr lang="es-ES" sz="1200" dirty="0"/>
              <a:t> - Si se añade control temporal en lógica → puedes justificar DC alta (≈99 %)</a:t>
            </a:r>
          </a:p>
        </p:txBody>
      </p:sp>
    </p:spTree>
    <p:extLst>
      <p:ext uri="{BB962C8B-B14F-4D97-AF65-F5344CB8AC3E}">
        <p14:creationId xmlns:p14="http://schemas.microsoft.com/office/powerpoint/2010/main" val="7716241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59AC3-FBF4-232B-62F0-8BD52D6AE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270BC3AC-6217-5F0E-74C0-F251C691D109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68891" y="331318"/>
            <a:ext cx="1465524" cy="571606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10874C66-DCFE-7965-F2A5-C973EA3A524D}"/>
              </a:ext>
            </a:extLst>
          </p:cNvPr>
          <p:cNvSpPr txBox="1"/>
          <p:nvPr/>
        </p:nvSpPr>
        <p:spPr>
          <a:xfrm>
            <a:off x="506083" y="421011"/>
            <a:ext cx="91550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u="sng" dirty="0"/>
              <a:t>Justificación del cumplimiento de </a:t>
            </a:r>
            <a:r>
              <a:rPr lang="es-ES" u="sng" dirty="0" err="1"/>
              <a:t>PLd</a:t>
            </a:r>
            <a:r>
              <a:rPr lang="es-ES" u="sng" dirty="0"/>
              <a:t> con arquitectura basada en RFID + sensores Hall</a:t>
            </a: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E83C708D-E4BE-F729-3C8F-347213234F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5115260"/>
              </p:ext>
            </p:extLst>
          </p:nvPr>
        </p:nvGraphicFramePr>
        <p:xfrm>
          <a:off x="1066800" y="1447800"/>
          <a:ext cx="8839200" cy="4160768"/>
        </p:xfrm>
        <a:graphic>
          <a:graphicData uri="http://schemas.openxmlformats.org/drawingml/2006/table">
            <a:tbl>
              <a:tblPr/>
              <a:tblGrid>
                <a:gridCol w="2209800">
                  <a:extLst>
                    <a:ext uri="{9D8B030D-6E8A-4147-A177-3AD203B41FA5}">
                      <a16:colId xmlns:a16="http://schemas.microsoft.com/office/drawing/2014/main" val="76244493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93688908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840565316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3962360085"/>
                    </a:ext>
                  </a:extLst>
                </a:gridCol>
              </a:tblGrid>
              <a:tr h="4721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/>
                        <a:t>Fallo peligroso típico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/>
                        <a:t>Medida de diagnóstico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/>
                        <a:t>Cobertura (Tabla E.1)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/>
                        <a:t>Clasificación (Tabla 7)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5471856"/>
                  </a:ext>
                </a:extLst>
              </a:tr>
              <a:tr h="6745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/>
                        <a:t>Canal OSSD atascado en 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dirty="0"/>
                        <a:t>Pulsos de prueba + comparación entre salidas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/>
                        <a:t>99 %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b="1"/>
                        <a:t>DC alta</a:t>
                      </a:r>
                      <a:endParaRPr lang="es-E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8740920"/>
                  </a:ext>
                </a:extLst>
              </a:tr>
              <a:tr h="6745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/>
                        <a:t>Pérdida de canal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/>
                        <a:t>Coherencia entre OSSD1 y OSSD2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/>
                        <a:t>99 %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b="1"/>
                        <a:t>DC alta</a:t>
                      </a:r>
                      <a:endParaRPr lang="es-E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9837628"/>
                  </a:ext>
                </a:extLst>
              </a:tr>
              <a:tr h="4721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/>
                        <a:t>Cortocircuito entre canales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/>
                        <a:t>Supervisión activa de cortos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/>
                        <a:t>99 %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b="1"/>
                        <a:t>DC alta</a:t>
                      </a:r>
                      <a:endParaRPr lang="es-E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7372595"/>
                  </a:ext>
                </a:extLst>
              </a:tr>
              <a:tr h="6745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/>
                        <a:t>Fallo peligroso típico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/>
                        <a:t>Medida de diagnóstico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/>
                        <a:t>Cobertura (Tabla E.1)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/>
                        <a:t>Clasificación (Tabla 7)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599021"/>
                  </a:ext>
                </a:extLst>
              </a:tr>
              <a:tr h="6745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/>
                        <a:t>Canal OSSD atascado en 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/>
                        <a:t>Pulsos de prueba + comparación entre salidas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/>
                        <a:t>99 %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b="1"/>
                        <a:t>DC alta</a:t>
                      </a:r>
                      <a:endParaRPr lang="es-E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3660542"/>
                  </a:ext>
                </a:extLst>
              </a:tr>
              <a:tr h="4721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/>
                        <a:t>Pérdida de canal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/>
                        <a:t>Coherencia entre OSSD1 y OSSD2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/>
                        <a:t>99 %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b="1" dirty="0"/>
                        <a:t>DC alta</a:t>
                      </a:r>
                      <a:endParaRPr lang="es-E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0807483"/>
                  </a:ext>
                </a:extLst>
              </a:tr>
            </a:tbl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BF2CEBEF-E25C-E314-99CC-2D1ED75A9610}"/>
              </a:ext>
            </a:extLst>
          </p:cNvPr>
          <p:cNvSpPr txBox="1"/>
          <p:nvPr/>
        </p:nvSpPr>
        <p:spPr>
          <a:xfrm>
            <a:off x="685800" y="87844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OSSD (salida segura)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363FBB7-7DE1-B8B5-4744-D3FD7685CE4F}"/>
              </a:ext>
            </a:extLst>
          </p:cNvPr>
          <p:cNvSpPr txBox="1"/>
          <p:nvPr/>
        </p:nvSpPr>
        <p:spPr>
          <a:xfrm>
            <a:off x="1057275" y="5896693"/>
            <a:ext cx="6096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b="1" dirty="0"/>
              <a:t>Resultado OSSD:</a:t>
            </a:r>
          </a:p>
          <a:p>
            <a:br>
              <a:rPr lang="es-ES" sz="1400" dirty="0"/>
            </a:br>
            <a:r>
              <a:rPr lang="es-ES" sz="1400" dirty="0"/>
              <a:t>- Con redundancia + control cruzado → DC alta (≈99 %).</a:t>
            </a:r>
          </a:p>
        </p:txBody>
      </p:sp>
    </p:spTree>
    <p:extLst>
      <p:ext uri="{BB962C8B-B14F-4D97-AF65-F5344CB8AC3E}">
        <p14:creationId xmlns:p14="http://schemas.microsoft.com/office/powerpoint/2010/main" val="35987279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C6656-7D3E-8F6B-AFBA-8E2B2216E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660A05DE-5C33-1F66-D734-9F57AA0291E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68891" y="331318"/>
            <a:ext cx="1465524" cy="571606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16686E0A-BF6E-C905-C69A-24971FBA0F8D}"/>
              </a:ext>
            </a:extLst>
          </p:cNvPr>
          <p:cNvSpPr txBox="1"/>
          <p:nvPr/>
        </p:nvSpPr>
        <p:spPr>
          <a:xfrm>
            <a:off x="506083" y="421011"/>
            <a:ext cx="91550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u="sng" dirty="0"/>
              <a:t>Justificación del cumplimiento de </a:t>
            </a:r>
            <a:r>
              <a:rPr lang="es-ES" u="sng" dirty="0" err="1"/>
              <a:t>PLd</a:t>
            </a:r>
            <a:r>
              <a:rPr lang="es-ES" u="sng" dirty="0"/>
              <a:t> con arquitectura basada en RFID + sensores Hall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AF4F9BE-0A27-AEE8-96A1-ECE410FB79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215" y="1016581"/>
            <a:ext cx="1147001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ES" altLang="es-E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 debe justificar</a:t>
            </a: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8354E14-9AE6-A95C-948F-309220E404A7}"/>
              </a:ext>
            </a:extLst>
          </p:cNvPr>
          <p:cNvSpPr txBox="1"/>
          <p:nvPr/>
        </p:nvSpPr>
        <p:spPr>
          <a:xfrm>
            <a:off x="312383" y="1565908"/>
            <a:ext cx="114700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b="1" dirty="0"/>
              <a:t>CCF (</a:t>
            </a:r>
            <a:r>
              <a:rPr lang="es-ES" b="1" dirty="0" err="1"/>
              <a:t>Common</a:t>
            </a:r>
            <a:r>
              <a:rPr lang="es-ES" b="1" dirty="0"/>
              <a:t> Cause </a:t>
            </a:r>
            <a:r>
              <a:rPr lang="es-ES" b="1" dirty="0" err="1"/>
              <a:t>Failure</a:t>
            </a:r>
            <a:r>
              <a:rPr lang="pt-BR" b="1" dirty="0"/>
              <a:t>)</a:t>
            </a:r>
            <a:endParaRPr lang="es-ES" b="1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98FD259-2F98-12C7-08E1-8EBB6F7F6067}"/>
              </a:ext>
            </a:extLst>
          </p:cNvPr>
          <p:cNvSpPr txBox="1"/>
          <p:nvPr/>
        </p:nvSpPr>
        <p:spPr>
          <a:xfrm>
            <a:off x="506083" y="2484567"/>
            <a:ext cx="109728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Se debe alcanzar </a:t>
            </a:r>
            <a:r>
              <a:rPr lang="es-ES" b="1" dirty="0"/>
              <a:t>≥ 65 puntos</a:t>
            </a:r>
            <a:r>
              <a:rPr lang="es-ES" dirty="0"/>
              <a:t> de medidas CCF según </a:t>
            </a:r>
            <a:r>
              <a:rPr lang="es-ES" b="1" dirty="0"/>
              <a:t>Anexo F</a:t>
            </a:r>
            <a:r>
              <a:rPr lang="es-ES" dirty="0"/>
              <a:t> 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 la </a:t>
            </a:r>
            <a:r>
              <a:rPr lang="es-ES" altLang="es-ES" b="1" dirty="0">
                <a:solidFill>
                  <a:schemeClr val="tx1"/>
                </a:solidFill>
                <a:latin typeface="Arial" panose="020B0604020202020204" pitchFamily="34" charset="0"/>
              </a:rPr>
              <a:t>13849_1</a:t>
            </a:r>
            <a:r>
              <a:rPr lang="es-ES" altLang="es-ES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s-ES" dirty="0"/>
              <a:t>(separación, diversidad, protección contra ambiente, EMC, cableado, etc.). </a:t>
            </a:r>
          </a:p>
          <a:p>
            <a:endParaRPr lang="es-ES" dirty="0"/>
          </a:p>
          <a:p>
            <a:r>
              <a:rPr lang="es-ES" dirty="0"/>
              <a:t>Preparar </a:t>
            </a:r>
            <a:r>
              <a:rPr lang="es-ES" dirty="0" err="1"/>
              <a:t>checklist</a:t>
            </a:r>
            <a:r>
              <a:rPr lang="es-ES" dirty="0"/>
              <a:t> de ese anexo y comprobar si se consigue </a:t>
            </a:r>
            <a:r>
              <a:rPr lang="es-ES" b="1" dirty="0"/>
              <a:t> ≥ 65 puntos</a:t>
            </a:r>
            <a:r>
              <a:rPr lang="es-E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895131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A7F529-8194-BE6B-A7B9-AEE0E8BFA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35FADB02-F5BF-8FB8-2C84-4FC3015FF42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68891" y="331318"/>
            <a:ext cx="1465524" cy="571606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A6312740-64BC-6D24-04D6-8E0B7CB2BE9F}"/>
              </a:ext>
            </a:extLst>
          </p:cNvPr>
          <p:cNvSpPr txBox="1"/>
          <p:nvPr/>
        </p:nvSpPr>
        <p:spPr>
          <a:xfrm>
            <a:off x="506083" y="421011"/>
            <a:ext cx="91550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u="sng" dirty="0"/>
              <a:t>Justificación del cumplimiento de </a:t>
            </a:r>
            <a:r>
              <a:rPr lang="es-ES" u="sng" dirty="0" err="1"/>
              <a:t>PLd</a:t>
            </a:r>
            <a:r>
              <a:rPr lang="es-ES" u="sng" dirty="0"/>
              <a:t> con arquitectura basada en RFID + sensores Hall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CD777A74-5B5D-EBFA-3588-C7AD0CA1A0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0280" y="902924"/>
            <a:ext cx="7915976" cy="5384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2202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F6D9D1-64C6-A402-C658-1754A877A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34C14E7F-075C-DEEF-2EF3-156F52517BF9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68891" y="331318"/>
            <a:ext cx="1465524" cy="571606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7B4A6009-81A9-BCCD-EBE7-A154A522EF92}"/>
              </a:ext>
            </a:extLst>
          </p:cNvPr>
          <p:cNvSpPr txBox="1"/>
          <p:nvPr/>
        </p:nvSpPr>
        <p:spPr>
          <a:xfrm>
            <a:off x="457200" y="146652"/>
            <a:ext cx="91550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u="sng" dirty="0"/>
              <a:t>Justificación del cumplimiento de </a:t>
            </a:r>
            <a:r>
              <a:rPr lang="es-ES" u="sng" dirty="0" err="1"/>
              <a:t>PLd</a:t>
            </a:r>
            <a:r>
              <a:rPr lang="es-ES" u="sng" dirty="0"/>
              <a:t> con arquitectura basada en RFID + sensores Hall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DC710DF-C3B5-74AC-0E8A-AE121E5F4A7C}"/>
              </a:ext>
            </a:extLst>
          </p:cNvPr>
          <p:cNvSpPr txBox="1"/>
          <p:nvPr/>
        </p:nvSpPr>
        <p:spPr>
          <a:xfrm>
            <a:off x="228600" y="617372"/>
            <a:ext cx="11734799" cy="6294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s-ES" sz="1300" b="1" dirty="0"/>
              <a:t>Aplicación a  (RFID + 2 Hall redundantes)</a:t>
            </a:r>
          </a:p>
          <a:p>
            <a:pPr algn="just">
              <a:buNone/>
            </a:pPr>
            <a:endParaRPr lang="es-ES" sz="1300" b="1" dirty="0"/>
          </a:p>
          <a:p>
            <a:pPr algn="just">
              <a:buFont typeface="+mj-lt"/>
              <a:buAutoNum type="arabicPeriod"/>
            </a:pPr>
            <a:r>
              <a:rPr lang="es-ES" sz="1300" b="1" dirty="0"/>
              <a:t>Separación/segregación (15 </a:t>
            </a:r>
            <a:r>
              <a:rPr lang="es-ES" sz="1300" b="1" dirty="0" err="1"/>
              <a:t>pts</a:t>
            </a:r>
            <a:r>
              <a:rPr lang="es-ES" sz="1300" b="1" dirty="0"/>
              <a:t>)</a:t>
            </a:r>
            <a:endParaRPr lang="es-ES" sz="1300" dirty="0"/>
          </a:p>
          <a:p>
            <a:pPr marL="742950" lvl="1" indent="-285750" algn="just">
              <a:buFont typeface="+mj-lt"/>
              <a:buAutoNum type="arabicPeriod"/>
            </a:pPr>
            <a:r>
              <a:rPr lang="es-ES" sz="1300" dirty="0"/>
              <a:t>Si los dos sensores Hall están físicamente separados, con cableados independientes (al menos en parte del recorrido), se puede reclamar estos 15 puntos si se justifica bien la separación en alimentación , etc </a:t>
            </a:r>
          </a:p>
          <a:p>
            <a:pPr marL="742950" lvl="1" indent="-285750" algn="just">
              <a:buFont typeface="+mj-lt"/>
              <a:buAutoNum type="arabicPeriod"/>
            </a:pPr>
            <a:endParaRPr lang="es-ES" sz="1300" dirty="0"/>
          </a:p>
          <a:p>
            <a:pPr algn="just">
              <a:buFont typeface="+mj-lt"/>
              <a:buAutoNum type="arabicPeriod"/>
            </a:pPr>
            <a:r>
              <a:rPr lang="es-ES" sz="1300" b="1" dirty="0"/>
              <a:t>Diversidad (20 </a:t>
            </a:r>
            <a:r>
              <a:rPr lang="es-ES" sz="1300" b="1" dirty="0" err="1"/>
              <a:t>pts</a:t>
            </a:r>
            <a:r>
              <a:rPr lang="es-ES" sz="1300" b="1" dirty="0"/>
              <a:t>)</a:t>
            </a:r>
            <a:endParaRPr lang="es-ES" sz="1300" dirty="0"/>
          </a:p>
          <a:p>
            <a:pPr marL="742950" lvl="1" indent="-285750" algn="just">
              <a:buFont typeface="+mj-lt"/>
              <a:buAutoNum type="arabicPeriod"/>
            </a:pPr>
            <a:r>
              <a:rPr lang="es-ES" sz="1300" dirty="0"/>
              <a:t>Si ambos sensores Hall son del mismo tipo, aquí normalmente </a:t>
            </a:r>
            <a:r>
              <a:rPr lang="es-ES" sz="1300" b="1" dirty="0"/>
              <a:t>0 puntos</a:t>
            </a:r>
            <a:r>
              <a:rPr lang="es-ES" sz="1300" dirty="0"/>
              <a:t>.</a:t>
            </a:r>
          </a:p>
          <a:p>
            <a:pPr marL="742950" lvl="1" indent="-285750" algn="just">
              <a:buFont typeface="+mj-lt"/>
              <a:buAutoNum type="arabicPeriod"/>
            </a:pPr>
            <a:r>
              <a:rPr lang="es-ES" sz="1300" dirty="0"/>
              <a:t>Sin embargo, como hay </a:t>
            </a:r>
            <a:r>
              <a:rPr lang="es-ES" sz="1300" b="1" dirty="0"/>
              <a:t>RFID para puerta cerrada</a:t>
            </a:r>
            <a:r>
              <a:rPr lang="es-ES" sz="1300" dirty="0"/>
              <a:t> y </a:t>
            </a:r>
            <a:r>
              <a:rPr lang="es-ES" sz="1300" b="1" dirty="0"/>
              <a:t>Hall redundantes para bloqueo</a:t>
            </a:r>
            <a:r>
              <a:rPr lang="es-ES" sz="1300" dirty="0"/>
              <a:t>, se puede alegar cierta diversidad funcional (aunque dentro del subsistema Hall no hay diversidad). Conservador: </a:t>
            </a:r>
            <a:r>
              <a:rPr lang="es-ES" sz="1300" b="1" dirty="0"/>
              <a:t>0 pts</a:t>
            </a:r>
            <a:r>
              <a:rPr lang="es-ES" sz="1300" dirty="0"/>
              <a:t>.</a:t>
            </a:r>
          </a:p>
          <a:p>
            <a:pPr marL="742950" lvl="1" indent="-285750" algn="just">
              <a:buFont typeface="+mj-lt"/>
              <a:buAutoNum type="arabicPeriod"/>
            </a:pPr>
            <a:endParaRPr lang="es-ES" sz="1300" dirty="0"/>
          </a:p>
          <a:p>
            <a:pPr algn="just">
              <a:buFont typeface="+mj-lt"/>
              <a:buAutoNum type="arabicPeriod"/>
            </a:pPr>
            <a:r>
              <a:rPr lang="es-ES" sz="1300" b="1" dirty="0"/>
              <a:t>Diseño/aplicación/experiencia (15 </a:t>
            </a:r>
            <a:r>
              <a:rPr lang="es-ES" sz="1300" b="1" dirty="0" err="1"/>
              <a:t>pts</a:t>
            </a:r>
            <a:r>
              <a:rPr lang="es-ES" sz="1300" b="1" dirty="0"/>
              <a:t>)</a:t>
            </a:r>
            <a:endParaRPr lang="es-ES" sz="1300" dirty="0"/>
          </a:p>
          <a:p>
            <a:pPr marL="742950" lvl="1" indent="-285750" algn="just">
              <a:buFont typeface="+mj-lt"/>
              <a:buAutoNum type="arabicPeriod"/>
            </a:pPr>
            <a:r>
              <a:rPr lang="es-ES" sz="1300" dirty="0"/>
              <a:t>Si usas sensores con historial de aplicación en seguridad industrial o certificados, se puede reclamar puntos. Con dos Hall analógicos redundantes con diagnóstico, sería razonable justificar los </a:t>
            </a:r>
            <a:r>
              <a:rPr lang="es-ES" sz="1300" b="1" dirty="0"/>
              <a:t>15 pts</a:t>
            </a:r>
            <a:r>
              <a:rPr lang="es-ES" sz="1300" dirty="0"/>
              <a:t>.</a:t>
            </a:r>
          </a:p>
          <a:p>
            <a:pPr marL="742950" lvl="1" indent="-285750" algn="just">
              <a:buFont typeface="+mj-lt"/>
              <a:buAutoNum type="arabicPeriod"/>
            </a:pPr>
            <a:endParaRPr lang="es-ES" sz="1300" dirty="0"/>
          </a:p>
          <a:p>
            <a:pPr algn="just">
              <a:buFont typeface="+mj-lt"/>
              <a:buAutoNum type="arabicPeriod"/>
            </a:pPr>
            <a:r>
              <a:rPr lang="es-ES" sz="1300" b="1" dirty="0"/>
              <a:t>Evaluación/análisis (5 </a:t>
            </a:r>
            <a:r>
              <a:rPr lang="es-ES" sz="1300" b="1" dirty="0" err="1"/>
              <a:t>pts</a:t>
            </a:r>
            <a:r>
              <a:rPr lang="es-ES" sz="1300" b="1" dirty="0"/>
              <a:t>)</a:t>
            </a:r>
            <a:endParaRPr lang="es-ES" sz="1300" dirty="0"/>
          </a:p>
          <a:p>
            <a:pPr marL="742950" lvl="1" indent="-285750" algn="just">
              <a:buFont typeface="+mj-lt"/>
              <a:buAutoNum type="arabicPeriod"/>
            </a:pPr>
            <a:r>
              <a:rPr lang="es-ES" sz="1300" dirty="0"/>
              <a:t>Si realizas un análisis documentado (FMEDA, FMEA o cálculo PL), puedes reclamar </a:t>
            </a:r>
            <a:r>
              <a:rPr lang="es-ES" sz="1300" b="1" dirty="0"/>
              <a:t>5 pts</a:t>
            </a:r>
            <a:r>
              <a:rPr lang="es-ES" sz="1300" dirty="0"/>
              <a:t>.</a:t>
            </a:r>
          </a:p>
          <a:p>
            <a:pPr marL="457200" lvl="1" algn="just"/>
            <a:endParaRPr lang="es-ES" sz="1300" dirty="0"/>
          </a:p>
          <a:p>
            <a:pPr algn="just">
              <a:buFont typeface="+mj-lt"/>
              <a:buAutoNum type="arabicPeriod"/>
            </a:pPr>
            <a:r>
              <a:rPr lang="es-ES" sz="1300" b="1" dirty="0"/>
              <a:t>Formación (5 </a:t>
            </a:r>
            <a:r>
              <a:rPr lang="es-ES" sz="1300" b="1" dirty="0" err="1"/>
              <a:t>pts</a:t>
            </a:r>
            <a:r>
              <a:rPr lang="es-ES" sz="1300" b="1" dirty="0"/>
              <a:t>)</a:t>
            </a:r>
            <a:endParaRPr lang="es-ES" sz="1300" dirty="0"/>
          </a:p>
          <a:p>
            <a:pPr marL="742950" lvl="1" indent="-285750" algn="just">
              <a:buFont typeface="+mj-lt"/>
              <a:buAutoNum type="arabicPeriod"/>
            </a:pPr>
            <a:r>
              <a:rPr lang="es-ES" sz="1300" dirty="0"/>
              <a:t>Si el diseño, integración y validación lo hacen personas con formación en seguridad funcional → </a:t>
            </a:r>
            <a:r>
              <a:rPr lang="es-ES" sz="1300" b="1" dirty="0"/>
              <a:t>5 pts</a:t>
            </a:r>
            <a:r>
              <a:rPr lang="es-ES" sz="1300" dirty="0"/>
              <a:t>.</a:t>
            </a:r>
          </a:p>
          <a:p>
            <a:pPr marL="457200" lvl="1" algn="just"/>
            <a:endParaRPr lang="es-ES" sz="1300" dirty="0"/>
          </a:p>
          <a:p>
            <a:pPr algn="just">
              <a:buFont typeface="+mj-lt"/>
              <a:buAutoNum type="arabicPeriod"/>
            </a:pPr>
            <a:r>
              <a:rPr lang="es-ES" sz="1300" b="1" dirty="0"/>
              <a:t>Medio ambiente (5 </a:t>
            </a:r>
            <a:r>
              <a:rPr lang="es-ES" sz="1300" b="1" dirty="0" err="1"/>
              <a:t>pts</a:t>
            </a:r>
            <a:r>
              <a:rPr lang="es-ES" sz="1300" b="1" dirty="0"/>
              <a:t>)</a:t>
            </a:r>
            <a:endParaRPr lang="es-ES" sz="1300" dirty="0"/>
          </a:p>
          <a:p>
            <a:pPr marL="742950" lvl="1" indent="-285750" algn="just">
              <a:buFont typeface="+mj-lt"/>
              <a:buAutoNum type="arabicPeriod"/>
            </a:pPr>
            <a:r>
              <a:rPr lang="es-ES" sz="1300" dirty="0"/>
              <a:t>Si los sensores están protegidos contra condiciones adversas (vibraciones, polvo, temperatura, humedad) y esto está documentado → </a:t>
            </a:r>
            <a:r>
              <a:rPr lang="es-ES" sz="1300" b="1" dirty="0"/>
              <a:t>5 pts</a:t>
            </a:r>
            <a:r>
              <a:rPr lang="es-ES" sz="1300" dirty="0"/>
              <a:t>.</a:t>
            </a:r>
          </a:p>
          <a:p>
            <a:pPr marL="742950" lvl="1" indent="-285750" algn="just">
              <a:buFont typeface="+mj-lt"/>
              <a:buAutoNum type="arabicPeriod"/>
            </a:pPr>
            <a:endParaRPr lang="es-ES" sz="1300" dirty="0"/>
          </a:p>
          <a:p>
            <a:pPr algn="just">
              <a:buFont typeface="+mj-lt"/>
              <a:buAutoNum type="arabicPeriod"/>
            </a:pPr>
            <a:r>
              <a:rPr lang="es-ES" sz="1300" b="1" dirty="0"/>
              <a:t>Prevención de EMI (25 </a:t>
            </a:r>
            <a:r>
              <a:rPr lang="es-ES" sz="1300" b="1" dirty="0" err="1"/>
              <a:t>pts</a:t>
            </a:r>
            <a:r>
              <a:rPr lang="es-ES" sz="1300" b="1" dirty="0"/>
              <a:t>)</a:t>
            </a:r>
            <a:endParaRPr lang="es-ES" sz="1300" dirty="0"/>
          </a:p>
          <a:p>
            <a:pPr marL="742950" lvl="1" indent="-285750" algn="just">
              <a:buFont typeface="+mj-lt"/>
              <a:buAutoNum type="arabicPeriod"/>
            </a:pPr>
            <a:r>
              <a:rPr lang="es-ES" sz="1300" dirty="0"/>
              <a:t>Si se aplican buenas prácticas de instalación (apantallamiento, filtrado, tierras, separación de cables de potencia y señal), se puede justificar los </a:t>
            </a:r>
            <a:r>
              <a:rPr lang="es-ES" sz="1300" b="1" dirty="0"/>
              <a:t>25 pts</a:t>
            </a:r>
            <a:r>
              <a:rPr lang="es-ES" sz="1300" dirty="0"/>
              <a:t>.</a:t>
            </a:r>
          </a:p>
          <a:p>
            <a:pPr marL="742950" lvl="1" indent="-285750" algn="just">
              <a:buFont typeface="+mj-lt"/>
              <a:buAutoNum type="arabicPeriod"/>
            </a:pPr>
            <a:endParaRPr lang="es-ES" sz="1300" dirty="0"/>
          </a:p>
          <a:p>
            <a:pPr algn="just">
              <a:buFont typeface="+mj-lt"/>
              <a:buAutoNum type="arabicPeriod"/>
            </a:pPr>
            <a:r>
              <a:rPr lang="es-ES" sz="1300" b="1" dirty="0"/>
              <a:t>Otras influencias (10 </a:t>
            </a:r>
            <a:r>
              <a:rPr lang="es-ES" sz="1300" b="1" dirty="0" err="1"/>
              <a:t>pts</a:t>
            </a:r>
            <a:r>
              <a:rPr lang="es-ES" sz="1300" b="1" dirty="0"/>
              <a:t>)</a:t>
            </a:r>
            <a:endParaRPr lang="es-ES" sz="1300" dirty="0"/>
          </a:p>
          <a:p>
            <a:pPr marL="742950" lvl="1" indent="-285750" algn="just">
              <a:buFont typeface="+mj-lt"/>
              <a:buAutoNum type="arabicPeriod"/>
            </a:pPr>
            <a:r>
              <a:rPr lang="es-ES" sz="1300" dirty="0"/>
              <a:t>Si se ha considerado fallos por ejemplo de tensión de alimentación, ruido eléctrico, </a:t>
            </a:r>
            <a:r>
              <a:rPr lang="es-ES" sz="1300" dirty="0" err="1"/>
              <a:t>sobretemperatura</a:t>
            </a:r>
            <a:r>
              <a:rPr lang="es-ES" sz="1300" dirty="0"/>
              <a:t> en la tarjeta, etc., y tienes medidas → </a:t>
            </a:r>
            <a:r>
              <a:rPr lang="es-ES" sz="1300" b="1" dirty="0"/>
              <a:t>10 pts</a:t>
            </a:r>
            <a:r>
              <a:rPr lang="es-ES" sz="13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752094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9FDDD-2BDF-D5CE-F65F-E422487B4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3FA215E5-55B2-A22B-41AA-6C275F3B259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68891" y="331318"/>
            <a:ext cx="1465524" cy="571606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7607EDF5-4DE2-7B1D-FD8D-2B54C7287686}"/>
              </a:ext>
            </a:extLst>
          </p:cNvPr>
          <p:cNvSpPr txBox="1"/>
          <p:nvPr/>
        </p:nvSpPr>
        <p:spPr>
          <a:xfrm>
            <a:off x="506083" y="421011"/>
            <a:ext cx="91550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u="sng" dirty="0"/>
              <a:t>Justificación del cumplimiento de </a:t>
            </a:r>
            <a:r>
              <a:rPr lang="es-ES" u="sng" dirty="0" err="1"/>
              <a:t>PLd</a:t>
            </a:r>
            <a:r>
              <a:rPr lang="es-ES" u="sng" dirty="0"/>
              <a:t> con arquitectura basada en RFID + sensores Hall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AA5A564-1E85-D68A-5C87-7C64DF9DCE5B}"/>
              </a:ext>
            </a:extLst>
          </p:cNvPr>
          <p:cNvSpPr txBox="1"/>
          <p:nvPr/>
        </p:nvSpPr>
        <p:spPr>
          <a:xfrm>
            <a:off x="457200" y="1143000"/>
            <a:ext cx="11201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/>
              <a:t>Combinar PFH_D de subsistemas</a:t>
            </a:r>
            <a:r>
              <a:rPr lang="es-ES" dirty="0"/>
              <a:t> (fórmulas ISO 13849-1; anexos de cálculo) hasta obtener el </a:t>
            </a:r>
            <a:r>
              <a:rPr lang="es-ES" b="1" dirty="0"/>
              <a:t>PFH_D total</a:t>
            </a:r>
            <a:r>
              <a:rPr lang="es-ES" dirty="0"/>
              <a:t> y el </a:t>
            </a:r>
            <a:r>
              <a:rPr lang="es-ES" b="1" dirty="0"/>
              <a:t>PL</a:t>
            </a:r>
            <a:r>
              <a:rPr lang="es-ES" dirty="0"/>
              <a:t> resultante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852FD537-C633-CD6B-6876-8476514974A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3125" b="3125"/>
          <a:stretch>
            <a:fillRect/>
          </a:stretch>
        </p:blipFill>
        <p:spPr>
          <a:xfrm>
            <a:off x="3886200" y="1826653"/>
            <a:ext cx="6010297" cy="2438400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8782C94A-7E2E-4E36-D0D2-F14438C06438}"/>
              </a:ext>
            </a:extLst>
          </p:cNvPr>
          <p:cNvSpPr txBox="1"/>
          <p:nvPr/>
        </p:nvSpPr>
        <p:spPr>
          <a:xfrm>
            <a:off x="381000" y="4597760"/>
            <a:ext cx="110984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1200" b="1" dirty="0"/>
              <a:t>RFID (detector de resguardo cerrado)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1200" b="1" dirty="0"/>
              <a:t>Un único canal</a:t>
            </a:r>
            <a:r>
              <a:rPr lang="es-ES" sz="1200" dirty="0"/>
              <a:t> → solo puedes justificar </a:t>
            </a:r>
            <a:r>
              <a:rPr lang="es-ES" sz="1200" b="1" dirty="0"/>
              <a:t>Categoría 1</a:t>
            </a:r>
            <a:r>
              <a:rPr lang="es-ES" sz="1200" dirty="0"/>
              <a:t> como máximo si no hacemos diagnostico.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1200" dirty="0"/>
              <a:t>Según  </a:t>
            </a:r>
            <a:r>
              <a:rPr lang="es-ES" sz="1200" b="1" dirty="0"/>
              <a:t>6.1.3.2.3 (Cat.1)</a:t>
            </a:r>
            <a:r>
              <a:rPr lang="es-ES" sz="1200" dirty="0"/>
              <a:t> </a:t>
            </a:r>
            <a:r>
              <a:rPr lang="es-ES" sz="1200" b="1" dirty="0"/>
              <a:t>El RFID solo = Cat.1.</a:t>
            </a:r>
            <a:endParaRPr lang="es-ES" sz="1200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7E925AB5-F7E5-E4F9-9C59-B4A92E696764}"/>
              </a:ext>
            </a:extLst>
          </p:cNvPr>
          <p:cNvSpPr txBox="1"/>
          <p:nvPr/>
        </p:nvSpPr>
        <p:spPr>
          <a:xfrm>
            <a:off x="381000" y="5484167"/>
            <a:ext cx="7848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1200" b="1" dirty="0"/>
              <a:t>Bloqueo (2 sensores Hall redundantes)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1200" dirty="0"/>
              <a:t>Dos canales en paralelo, con </a:t>
            </a:r>
            <a:r>
              <a:rPr lang="es-ES" sz="1200" dirty="0" err="1"/>
              <a:t>MTTFd</a:t>
            </a:r>
            <a:r>
              <a:rPr lang="es-ES" sz="1200" dirty="0"/>
              <a:t> medio/alto y </a:t>
            </a:r>
            <a:r>
              <a:rPr lang="es-ES" sz="1200" dirty="0" err="1"/>
              <a:t>DCavg</a:t>
            </a:r>
            <a:r>
              <a:rPr lang="es-ES" sz="1200" dirty="0"/>
              <a:t> ≥ 60 % →   </a:t>
            </a:r>
            <a:r>
              <a:rPr lang="es-ES" sz="1200" b="1" dirty="0"/>
              <a:t>Bloqueo con 2 Hall = Cat.3.</a:t>
            </a:r>
            <a:endParaRPr lang="es-ES" sz="1200" dirty="0"/>
          </a:p>
        </p:txBody>
      </p:sp>
    </p:spTree>
    <p:extLst>
      <p:ext uri="{BB962C8B-B14F-4D97-AF65-F5344CB8AC3E}">
        <p14:creationId xmlns:p14="http://schemas.microsoft.com/office/powerpoint/2010/main" val="5840595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F101F-4813-E1A8-1C09-D0E479909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458D6197-E5FF-38CD-1890-ADDBA98D85F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68891" y="331318"/>
            <a:ext cx="1465524" cy="571606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BC1FB27C-051F-795A-B402-02A35D7C80D1}"/>
              </a:ext>
            </a:extLst>
          </p:cNvPr>
          <p:cNvSpPr txBox="1"/>
          <p:nvPr/>
        </p:nvSpPr>
        <p:spPr>
          <a:xfrm>
            <a:off x="506083" y="421011"/>
            <a:ext cx="91550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u="sng" dirty="0"/>
              <a:t>Justificación del cumplimiento de </a:t>
            </a:r>
            <a:r>
              <a:rPr lang="es-ES" u="sng" dirty="0" err="1"/>
              <a:t>PLd</a:t>
            </a:r>
            <a:r>
              <a:rPr lang="es-ES" u="sng" dirty="0"/>
              <a:t> con arquitectura basada en RFID + sensores Hall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9A67021-E76C-4577-D816-D5AD39524F6F}"/>
              </a:ext>
            </a:extLst>
          </p:cNvPr>
          <p:cNvSpPr txBox="1"/>
          <p:nvPr/>
        </p:nvSpPr>
        <p:spPr>
          <a:xfrm>
            <a:off x="457199" y="1295398"/>
            <a:ext cx="1137721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1200" b="1" dirty="0"/>
              <a:t>Función combinada (RFID AND Bloqueo)</a:t>
            </a:r>
          </a:p>
          <a:p>
            <a:pPr>
              <a:buNone/>
            </a:pPr>
            <a:endParaRPr lang="es-ES" sz="1200" b="1" dirty="0"/>
          </a:p>
          <a:p>
            <a:pPr>
              <a:buNone/>
            </a:pPr>
            <a:r>
              <a:rPr lang="es-ES" sz="1200" dirty="0"/>
              <a:t>La </a:t>
            </a:r>
            <a:r>
              <a:rPr lang="es-ES" sz="1200" b="1" dirty="0"/>
              <a:t>ISO 13849-1:2024, §5.5 – Descomposición de la SRP/CS en subsistemas</a:t>
            </a:r>
            <a:r>
              <a:rPr lang="es-ES" sz="1200" dirty="0"/>
              <a:t>, dice que se puede dividir la función de seguridad en </a:t>
            </a:r>
            <a:r>
              <a:rPr lang="es-ES" sz="1200" b="1" dirty="0"/>
              <a:t>subfunciones</a:t>
            </a:r>
            <a:r>
              <a:rPr lang="es-ES" sz="1200" dirty="0"/>
              <a:t>, asignarles categorías distintas y luego combinarlas:</a:t>
            </a:r>
          </a:p>
          <a:p>
            <a:pPr>
              <a:buNone/>
            </a:pPr>
            <a:endParaRPr lang="es-ES" sz="1200" dirty="0"/>
          </a:p>
          <a:p>
            <a:pPr>
              <a:buNone/>
            </a:pPr>
            <a:endParaRPr lang="es-ES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es-ES" sz="1200" dirty="0"/>
              <a:t>Subfunción A = </a:t>
            </a:r>
            <a:r>
              <a:rPr lang="es-ES" sz="1200" b="1" dirty="0"/>
              <a:t>Detección de resguardo cerrado (RFID, Cat.1, </a:t>
            </a:r>
            <a:r>
              <a:rPr lang="es-ES" sz="1200" b="1" dirty="0" err="1"/>
              <a:t>PLc</a:t>
            </a:r>
            <a:r>
              <a:rPr lang="es-ES" sz="1200" b="1" dirty="0"/>
              <a:t> máx.)</a:t>
            </a:r>
            <a:r>
              <a:rPr lang="es-ES" sz="1200" b="1" dirty="0">
                <a:sym typeface="Wingdings" panose="05000000000000000000" pitchFamily="2" charset="2"/>
              </a:rPr>
              <a:t> Cat.2 si se implementa </a:t>
            </a:r>
            <a:r>
              <a:rPr lang="es-ES" sz="1200" b="1" dirty="0"/>
              <a:t>ensayo cíclico/ prueba</a:t>
            </a:r>
            <a:r>
              <a:rPr lang="es-ES" sz="1200" dirty="0"/>
              <a:t> </a:t>
            </a:r>
            <a:r>
              <a:rPr lang="es-ES" sz="1200" b="1" dirty="0"/>
              <a:t>+ diagnóstico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1200" dirty="0"/>
              <a:t>Subfunción B = </a:t>
            </a:r>
            <a:r>
              <a:rPr lang="es-ES" sz="1200" b="1" dirty="0"/>
              <a:t>Detección redundante de bloqueo (Hall x2, Cat.3, </a:t>
            </a:r>
            <a:r>
              <a:rPr lang="es-ES" sz="1200" b="1" dirty="0" err="1"/>
              <a:t>PLd</a:t>
            </a:r>
            <a:r>
              <a:rPr lang="es-ES" sz="1200" b="1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endParaRPr lang="es-ES" sz="1200" dirty="0"/>
          </a:p>
          <a:p>
            <a:pPr>
              <a:buNone/>
            </a:pPr>
            <a:r>
              <a:rPr lang="es-ES" sz="1200" dirty="0"/>
              <a:t>El sistema de seguridad global es </a:t>
            </a:r>
            <a:r>
              <a:rPr lang="es-ES" sz="1200" b="1" dirty="0"/>
              <a:t>la combinación lógica A &amp; B y </a:t>
            </a:r>
            <a:r>
              <a:rPr lang="es-ES" sz="1200" dirty="0"/>
              <a:t>la salida solo se activa si:</a:t>
            </a:r>
          </a:p>
          <a:p>
            <a:r>
              <a:rPr lang="es-ES" sz="1200" dirty="0"/>
              <a:t> - El RFID dice “puerta cerrada”, y</a:t>
            </a:r>
          </a:p>
          <a:p>
            <a:r>
              <a:rPr lang="es-ES" sz="1200" dirty="0"/>
              <a:t> - Los dos Hall dicen “bloqueo aplicado”.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63F655E-D22D-03A2-0054-70A4FFB39E1D}"/>
              </a:ext>
            </a:extLst>
          </p:cNvPr>
          <p:cNvSpPr txBox="1"/>
          <p:nvPr/>
        </p:nvSpPr>
        <p:spPr>
          <a:xfrm>
            <a:off x="506082" y="3733800"/>
            <a:ext cx="1092391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1200" b="1" dirty="0"/>
              <a:t>¿Qué PL final se puede justificar?</a:t>
            </a:r>
          </a:p>
          <a:p>
            <a:pPr>
              <a:buNone/>
            </a:pPr>
            <a:endParaRPr lang="es-ES" sz="12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s-ES" sz="1200" dirty="0"/>
              <a:t>Si el </a:t>
            </a:r>
            <a:r>
              <a:rPr lang="es-ES" sz="1200" b="1" dirty="0" err="1"/>
              <a:t>PLr</a:t>
            </a:r>
            <a:r>
              <a:rPr lang="es-ES" sz="1200" dirty="0"/>
              <a:t> exigido por el análisis de riesgo es </a:t>
            </a:r>
            <a:r>
              <a:rPr lang="es-ES" sz="1200" b="1" dirty="0"/>
              <a:t>PL d</a:t>
            </a:r>
            <a:r>
              <a:rPr lang="es-ES" sz="1200" dirty="0"/>
              <a:t>, se puede llegar a él aunque un subsistema (RFID) sea Cat.1, porque: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1200" dirty="0"/>
              <a:t>El bloqueo (que es la parte crítica para evitar el acceso al peligro) sí es </a:t>
            </a:r>
            <a:r>
              <a:rPr lang="es-ES" sz="1200" b="1" dirty="0"/>
              <a:t>Cat.3 → PL d</a:t>
            </a:r>
            <a:r>
              <a:rPr lang="es-ES" sz="1200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1200" dirty="0"/>
              <a:t>La norma permite que la función completa se justifique como </a:t>
            </a:r>
            <a:r>
              <a:rPr lang="es-ES" sz="1200" b="1" dirty="0"/>
              <a:t>Cat.3</a:t>
            </a:r>
            <a:r>
              <a:rPr lang="es-ES" sz="1200" dirty="0"/>
              <a:t> si el subsistema más débil (RFID) está acompañado de un subsistema redundante y con diagnóstico que asegura el nivel global (ver 5.5 y Anexo K de la ISO 13849-1:2024).</a:t>
            </a:r>
          </a:p>
          <a:p>
            <a:pPr marL="457200" lvl="1"/>
            <a:endParaRPr lang="es-ES" sz="1200" dirty="0"/>
          </a:p>
          <a:p>
            <a:pPr>
              <a:buNone/>
            </a:pPr>
            <a:r>
              <a:rPr lang="es-ES" sz="1200" dirty="0"/>
              <a:t>Hay que demostrar en el cálculo global (</a:t>
            </a:r>
            <a:r>
              <a:rPr lang="es-ES" sz="1200" dirty="0" err="1"/>
              <a:t>MTTFd</a:t>
            </a:r>
            <a:r>
              <a:rPr lang="es-ES" sz="1200" dirty="0"/>
              <a:t>, </a:t>
            </a:r>
            <a:r>
              <a:rPr lang="es-ES" sz="1200" dirty="0" err="1"/>
              <a:t>DCavg</a:t>
            </a:r>
            <a:r>
              <a:rPr lang="es-ES" sz="1200" dirty="0"/>
              <a:t> y CCF combinados) que el sistema cumple </a:t>
            </a:r>
            <a:r>
              <a:rPr lang="es-ES" sz="1200" b="1" dirty="0"/>
              <a:t>PL d</a:t>
            </a:r>
            <a:r>
              <a:rPr lang="es-ES" sz="1200" dirty="0"/>
              <a:t>.</a:t>
            </a:r>
            <a:br>
              <a:rPr lang="es-ES" sz="1200" dirty="0"/>
            </a:br>
            <a:r>
              <a:rPr lang="es-ES" sz="1200" dirty="0"/>
              <a:t>Esto se hace con las fórmulas de </a:t>
            </a:r>
            <a:r>
              <a:rPr lang="es-ES" sz="1200" b="1" dirty="0" err="1"/>
              <a:t>PFHd</a:t>
            </a:r>
            <a:r>
              <a:rPr lang="es-ES" sz="1200" b="1" dirty="0"/>
              <a:t> total</a:t>
            </a:r>
            <a:r>
              <a:rPr lang="es-ES" sz="1200" dirty="0"/>
              <a:t> (probabilidad de fallo por hora, ISO 13849-1 Anexo K) sumando las contribuciones de cada subsistema</a:t>
            </a:r>
          </a:p>
        </p:txBody>
      </p:sp>
    </p:spTree>
    <p:extLst>
      <p:ext uri="{BB962C8B-B14F-4D97-AF65-F5344CB8AC3E}">
        <p14:creationId xmlns:p14="http://schemas.microsoft.com/office/powerpoint/2010/main" val="27988118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0BCCE9-940F-5EEC-EAD9-037C189B2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FA053AC5-76AB-71DD-8F95-7D44A1F41D1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68891" y="331318"/>
            <a:ext cx="1465524" cy="571606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DCC65982-7984-CC22-C842-C4E6F9BEB63A}"/>
              </a:ext>
            </a:extLst>
          </p:cNvPr>
          <p:cNvSpPr txBox="1"/>
          <p:nvPr/>
        </p:nvSpPr>
        <p:spPr>
          <a:xfrm>
            <a:off x="506083" y="421011"/>
            <a:ext cx="91550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u="sng" dirty="0"/>
              <a:t>Justificación del cumplimiento de </a:t>
            </a:r>
            <a:r>
              <a:rPr lang="es-ES" u="sng" dirty="0" err="1"/>
              <a:t>PLd</a:t>
            </a:r>
            <a:r>
              <a:rPr lang="es-ES" u="sng" dirty="0"/>
              <a:t> con arquitectura basada en RFID + sensores Hall</a:t>
            </a:r>
          </a:p>
        </p:txBody>
      </p:sp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DF90D7B5-3135-1CA9-52B6-58BB57F90C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2398683"/>
              </p:ext>
            </p:extLst>
          </p:nvPr>
        </p:nvGraphicFramePr>
        <p:xfrm>
          <a:off x="479044" y="902924"/>
          <a:ext cx="10896600" cy="2743200"/>
        </p:xfrm>
        <a:graphic>
          <a:graphicData uri="http://schemas.openxmlformats.org/drawingml/2006/table">
            <a:tbl>
              <a:tblPr/>
              <a:tblGrid>
                <a:gridCol w="2483113">
                  <a:extLst>
                    <a:ext uri="{9D8B030D-6E8A-4147-A177-3AD203B41FA5}">
                      <a16:colId xmlns:a16="http://schemas.microsoft.com/office/drawing/2014/main" val="1373181980"/>
                    </a:ext>
                  </a:extLst>
                </a:gridCol>
                <a:gridCol w="3384287">
                  <a:extLst>
                    <a:ext uri="{9D8B030D-6E8A-4147-A177-3AD203B41FA5}">
                      <a16:colId xmlns:a16="http://schemas.microsoft.com/office/drawing/2014/main" val="185250017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1483376103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540404565"/>
                    </a:ext>
                  </a:extLst>
                </a:gridCol>
              </a:tblGrid>
              <a:tr h="3918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100" b="1" dirty="0"/>
                        <a:t>Bloque (subsistema)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100" b="1" dirty="0"/>
                        <a:t>Arquitectura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100" b="1" dirty="0"/>
                        <a:t>Parámetros que declaras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100" b="1" dirty="0"/>
                        <a:t>Norma que lo habilita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522636"/>
                  </a:ext>
                </a:extLst>
              </a:tr>
              <a:tr h="10636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100" b="1"/>
                        <a:t>A. Resguardo cerrado (RFID 125 kHz)</a:t>
                      </a:r>
                      <a:endParaRPr lang="es-ES" sz="11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100" b="1" dirty="0"/>
                        <a:t>Cat. 2</a:t>
                      </a:r>
                      <a:r>
                        <a:rPr lang="es-ES" sz="1100" dirty="0"/>
                        <a:t> (un canal + </a:t>
                      </a:r>
                      <a:r>
                        <a:rPr lang="es-ES" sz="1100" b="1" dirty="0"/>
                        <a:t>ensayo cíclico/ prueba</a:t>
                      </a:r>
                      <a:r>
                        <a:rPr lang="es-ES" sz="1100" dirty="0"/>
                        <a:t> + diagnóstico)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100" b="1" dirty="0" err="1"/>
                        <a:t>MTTFdA</a:t>
                      </a:r>
                      <a:r>
                        <a:rPr lang="es-ES" sz="1100" dirty="0"/>
                        <a:t> en </a:t>
                      </a:r>
                      <a:r>
                        <a:rPr lang="es-ES" sz="1100" b="1" dirty="0"/>
                        <a:t>[30…100] años</a:t>
                      </a:r>
                      <a:r>
                        <a:rPr lang="es-ES" sz="1100" dirty="0"/>
                        <a:t> (alto), </a:t>
                      </a:r>
                      <a:r>
                        <a:rPr lang="es-ES" sz="1100" b="1" dirty="0" err="1"/>
                        <a:t>DCavgA</a:t>
                      </a:r>
                      <a:r>
                        <a:rPr lang="es-ES" sz="1100" b="1" dirty="0"/>
                        <a:t> ≈ 90 %</a:t>
                      </a:r>
                      <a:r>
                        <a:rPr lang="es-ES" sz="1100" dirty="0"/>
                        <a:t> (medio), pruebas cada ciclo/encendido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100" dirty="0"/>
                        <a:t>Definición Cat. 2: </a:t>
                      </a:r>
                      <a:r>
                        <a:rPr lang="es-ES" sz="1100" b="1" dirty="0"/>
                        <a:t>6.1.3.2.4</a:t>
                      </a:r>
                      <a:r>
                        <a:rPr lang="es-ES" sz="1100" dirty="0"/>
                        <a:t> y </a:t>
                      </a:r>
                      <a:r>
                        <a:rPr lang="es-ES" sz="1100" b="1" dirty="0"/>
                        <a:t>Tabla 5</a:t>
                      </a:r>
                      <a:r>
                        <a:rPr lang="es-ES" sz="1100" dirty="0"/>
                        <a:t> (se exige “ensayo” + diagnóstico).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1656558"/>
                  </a:ext>
                </a:extLst>
              </a:tr>
              <a:tr h="7277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100" b="1" dirty="0"/>
                        <a:t>B. Bloqueo (Hall1 + Hall2)</a:t>
                      </a:r>
                      <a:endParaRPr lang="es-E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100" b="1" dirty="0"/>
                        <a:t>Cat. 3</a:t>
                      </a:r>
                      <a:r>
                        <a:rPr lang="es-ES" sz="1100" dirty="0"/>
                        <a:t> (2 canales con diagnóstico)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100" b="1"/>
                        <a:t>MTTFdB1, MTTFdB2</a:t>
                      </a:r>
                      <a:r>
                        <a:rPr lang="es-ES" sz="1100"/>
                        <a:t> altos (p.ej. ≥ 60 a), </a:t>
                      </a:r>
                      <a:r>
                        <a:rPr lang="es-ES" sz="1100" b="1"/>
                        <a:t>DCavgB ≈ 90 %</a:t>
                      </a:r>
                      <a:endParaRPr lang="es-ES" sz="11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100"/>
                        <a:t>Definición Cat. 3: </a:t>
                      </a:r>
                      <a:r>
                        <a:rPr lang="es-ES" sz="1100" b="1"/>
                        <a:t>6.1.3.2.5</a:t>
                      </a:r>
                      <a:r>
                        <a:rPr lang="es-ES" sz="1100"/>
                        <a:t> y </a:t>
                      </a:r>
                      <a:r>
                        <a:rPr lang="es-ES" sz="1100" b="1"/>
                        <a:t>Tabla 5</a:t>
                      </a:r>
                      <a:r>
                        <a:rPr lang="es-ES" sz="1100"/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735095"/>
                  </a:ext>
                </a:extLst>
              </a:tr>
              <a:tr h="5598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100" b="1"/>
                        <a:t>C. Salida OSSD dual</a:t>
                      </a:r>
                      <a:endParaRPr lang="es-ES" sz="11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100" b="1"/>
                        <a:t>Cat. 3</a:t>
                      </a:r>
                      <a:r>
                        <a:rPr lang="es-ES" sz="1100"/>
                        <a:t> (dos salidas con autovigilancia y feedback)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100" b="1"/>
                        <a:t>MTTFdC1, MTTFdC2</a:t>
                      </a:r>
                      <a:r>
                        <a:rPr lang="es-ES" sz="1100"/>
                        <a:t> altos, </a:t>
                      </a:r>
                      <a:r>
                        <a:rPr lang="es-ES" sz="1100" b="1"/>
                        <a:t>DCavgC ≈ 90 %</a:t>
                      </a:r>
                      <a:endParaRPr lang="es-ES" sz="11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100" dirty="0" err="1"/>
                        <a:t>Idem</a:t>
                      </a:r>
                      <a:r>
                        <a:rPr lang="es-ES" sz="1100" dirty="0"/>
                        <a:t> Cat. 3.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750291"/>
                  </a:ext>
                </a:extLst>
              </a:tr>
            </a:tbl>
          </a:graphicData>
        </a:graphic>
      </p:graphicFrame>
      <p:sp>
        <p:nvSpPr>
          <p:cNvPr id="10" name="CuadroTexto 9">
            <a:extLst>
              <a:ext uri="{FF2B5EF4-FFF2-40B4-BE49-F238E27FC236}">
                <a16:creationId xmlns:a16="http://schemas.microsoft.com/office/drawing/2014/main" id="{B2191D0B-7B21-4999-05A4-8B6DA089312B}"/>
              </a:ext>
            </a:extLst>
          </p:cNvPr>
          <p:cNvSpPr txBox="1"/>
          <p:nvPr/>
        </p:nvSpPr>
        <p:spPr>
          <a:xfrm>
            <a:off x="381000" y="3786843"/>
            <a:ext cx="84582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100" b="1" dirty="0"/>
              <a:t>CCF (fallos por causas comunes)</a:t>
            </a:r>
            <a:r>
              <a:rPr lang="es-ES" sz="1100" dirty="0"/>
              <a:t>: </a:t>
            </a:r>
            <a:r>
              <a:rPr lang="es-ES" sz="1100" dirty="0" err="1"/>
              <a:t>checklist</a:t>
            </a:r>
            <a:r>
              <a:rPr lang="es-ES" sz="1100" dirty="0"/>
              <a:t> </a:t>
            </a:r>
            <a:r>
              <a:rPr lang="es-ES" sz="1100" b="1" dirty="0"/>
              <a:t>Anexo F</a:t>
            </a:r>
            <a:r>
              <a:rPr lang="es-ES" sz="1100" dirty="0"/>
              <a:t> ≥ </a:t>
            </a:r>
            <a:r>
              <a:rPr lang="es-ES" sz="1100" b="1" dirty="0"/>
              <a:t>65 puntos</a:t>
            </a:r>
            <a:r>
              <a:rPr lang="es-ES" sz="1100" dirty="0"/>
              <a:t> (separación, diversidad, EMC, etc.).</a:t>
            </a:r>
            <a:br>
              <a:rPr lang="es-ES" sz="1100" dirty="0"/>
            </a:br>
            <a:r>
              <a:rPr lang="es-ES" sz="1100" b="1" dirty="0"/>
              <a:t>Descomposición en subsistemas</a:t>
            </a:r>
            <a:r>
              <a:rPr lang="es-ES" sz="1100" dirty="0"/>
              <a:t>: permitida por </a:t>
            </a:r>
            <a:r>
              <a:rPr lang="es-ES" sz="1100" b="1" dirty="0"/>
              <a:t>§5.5</a:t>
            </a:r>
            <a:r>
              <a:rPr lang="es-ES" sz="1100" dirty="0"/>
              <a:t> (describir entradas/salidas y requisitos de cada subfunción y combinarlas).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F3D27209-6920-7F9F-66CE-7DEB8AA5D750}"/>
              </a:ext>
            </a:extLst>
          </p:cNvPr>
          <p:cNvSpPr txBox="1"/>
          <p:nvPr/>
        </p:nvSpPr>
        <p:spPr>
          <a:xfrm>
            <a:off x="400665" y="4358449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200" dirty="0"/>
              <a:t>PL de </a:t>
            </a:r>
            <a:r>
              <a:rPr lang="es-ES" sz="1200" b="1" dirty="0"/>
              <a:t>cada subsistema</a:t>
            </a:r>
            <a:endParaRPr lang="es-ES" sz="1200" dirty="0"/>
          </a:p>
        </p:txBody>
      </p:sp>
      <p:sp>
        <p:nvSpPr>
          <p:cNvPr id="13" name="Rectangle 1">
            <a:extLst>
              <a:ext uri="{FF2B5EF4-FFF2-40B4-BE49-F238E27FC236}">
                <a16:creationId xmlns:a16="http://schemas.microsoft.com/office/drawing/2014/main" id="{FB569BB4-B34C-C7D5-7C23-F60A5FD69D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665" y="4632067"/>
            <a:ext cx="10004662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 </a:t>
            </a:r>
            <a:r>
              <a:rPr kumimoji="0" lang="es-ES" altLang="es-E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Tabla K.1</a:t>
            </a:r>
            <a:r>
              <a:rPr kumimoji="0" lang="es-ES" altLang="es-E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(Anexo K, “representación numérica” de la Fig. 12) indica el </a:t>
            </a:r>
            <a:r>
              <a:rPr kumimoji="0" lang="es-ES" altLang="es-E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 alcanzable</a:t>
            </a:r>
            <a:r>
              <a:rPr kumimoji="0" lang="es-ES" altLang="es-E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para cada combinación </a:t>
            </a:r>
            <a:r>
              <a:rPr kumimoji="0" lang="es-ES" altLang="es-E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Categoría + </a:t>
            </a:r>
            <a:r>
              <a:rPr kumimoji="0" lang="es-ES" altLang="es-ES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MTTFd</a:t>
            </a:r>
            <a:r>
              <a:rPr kumimoji="0" lang="es-ES" altLang="es-E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+ </a:t>
            </a:r>
            <a:r>
              <a:rPr kumimoji="0" lang="es-ES" altLang="es-ES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DCavg</a:t>
            </a:r>
            <a:r>
              <a:rPr kumimoji="0" lang="es-ES" altLang="es-E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ES" altLang="es-E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- RFID en Cat. 2, DC medio (≈ 90 %), </a:t>
            </a:r>
            <a:r>
              <a:rPr kumimoji="0" lang="es-ES" altLang="es-ES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MTTFd</a:t>
            </a:r>
            <a:r>
              <a:rPr kumimoji="0" lang="es-ES" altLang="es-E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 [30…100] a</a:t>
            </a:r>
            <a:r>
              <a:rPr kumimoji="0" lang="es-ES" altLang="es-E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</a:t>
            </a:r>
            <a:r>
              <a:rPr kumimoji="0" lang="es-ES" altLang="es-E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alcanza PL d</a:t>
            </a:r>
            <a:r>
              <a:rPr kumimoji="0" lang="es-ES" altLang="es-E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r>
              <a:rPr lang="es-ES" altLang="es-ES" sz="12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kumimoji="0" lang="es-ES" altLang="es-E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(Base: K.1 para Cat. 2 con DC=“medio” y </a:t>
            </a:r>
            <a:r>
              <a:rPr kumimoji="0" lang="es-ES" altLang="es-ES" sz="12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MTTFd</a:t>
            </a:r>
            <a:r>
              <a:rPr kumimoji="0" lang="es-ES" altLang="es-E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alto).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ES" altLang="es-E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ES" altLang="es-E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- Bloqueo (Hall redundante) en Cat. 3, DC medio–alto, </a:t>
            </a:r>
            <a:r>
              <a:rPr kumimoji="0" lang="es-ES" altLang="es-ES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MTTFd</a:t>
            </a:r>
            <a:r>
              <a:rPr kumimoji="0" lang="es-ES" altLang="es-E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alto</a:t>
            </a:r>
            <a:r>
              <a:rPr kumimoji="0" lang="es-ES" altLang="es-E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</a:t>
            </a:r>
            <a:r>
              <a:rPr kumimoji="0" lang="es-ES" altLang="es-E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alcanza PL d</a:t>
            </a:r>
            <a:r>
              <a:rPr kumimoji="0" lang="es-ES" altLang="es-E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r>
              <a:rPr kumimoji="0" lang="es-ES" altLang="es-E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(Base: K.1 para Cat. 3 con </a:t>
            </a:r>
            <a:r>
              <a:rPr kumimoji="0" lang="es-ES" altLang="es-ES" sz="12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DC≥“medio</a:t>
            </a:r>
            <a:r>
              <a:rPr kumimoji="0" lang="es-ES" altLang="es-E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” y </a:t>
            </a:r>
            <a:r>
              <a:rPr kumimoji="0" lang="es-ES" altLang="es-ES" sz="12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MTTFd</a:t>
            </a:r>
            <a:r>
              <a:rPr kumimoji="0" lang="es-ES" altLang="es-E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alto).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ES" altLang="es-E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ES" altLang="es-E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-OSSD dual en Cat. 3, DC medio–alto, </a:t>
            </a:r>
            <a:r>
              <a:rPr kumimoji="0" lang="es-ES" altLang="es-ES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MTTFd</a:t>
            </a:r>
            <a:r>
              <a:rPr kumimoji="0" lang="es-ES" altLang="es-E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alto</a:t>
            </a:r>
            <a:r>
              <a:rPr kumimoji="0" lang="es-ES" altLang="es-E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</a:t>
            </a:r>
            <a:r>
              <a:rPr kumimoji="0" lang="es-ES" altLang="es-E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alcanza PL d</a:t>
            </a:r>
            <a:r>
              <a:rPr kumimoji="0" lang="es-ES" altLang="es-E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r>
              <a:rPr kumimoji="0" lang="es-ES" altLang="es-E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(Base: K.1 para Cat. 3).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ES" altLang="es-E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Los tres subsistemas alcanzan individualmente PL d</a:t>
            </a:r>
            <a:r>
              <a:rPr kumimoji="0" lang="es-ES" altLang="es-E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 los parámetros declarados (Cat/DC/</a:t>
            </a:r>
            <a:r>
              <a:rPr kumimoji="0" lang="es-ES" altLang="es-E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MTTFd</a:t>
            </a:r>
            <a:r>
              <a:rPr kumimoji="0" lang="es-ES" altLang="es-E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2837436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E15ED-5D34-A86D-B11B-AB731B5BE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F975B2BF-B7EA-B3A7-93F4-75EE15C3950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68891" y="331318"/>
            <a:ext cx="1465524" cy="571606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A152309C-A7D4-EB52-A00B-E787C2C5B232}"/>
              </a:ext>
            </a:extLst>
          </p:cNvPr>
          <p:cNvSpPr txBox="1"/>
          <p:nvPr/>
        </p:nvSpPr>
        <p:spPr>
          <a:xfrm>
            <a:off x="506083" y="421011"/>
            <a:ext cx="91550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u="sng" dirty="0"/>
              <a:t>Justificación del cumplimiento de </a:t>
            </a:r>
            <a:r>
              <a:rPr lang="es-ES" u="sng" dirty="0" err="1"/>
              <a:t>PLd</a:t>
            </a:r>
            <a:r>
              <a:rPr lang="es-ES" u="sng" dirty="0"/>
              <a:t> con arquitectura basada en RFID + sensores Hall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98FF504-5909-2451-33D9-46A996BBC4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600" y="902924"/>
            <a:ext cx="9296400" cy="5537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5616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ACF0E3-59F8-6F4B-4288-D2547BCD7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4CD80628-3A54-ED6B-3A87-88D26B01654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68891" y="331318"/>
            <a:ext cx="1465524" cy="571606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1D192715-6ED9-389B-AC44-E97DA5506709}"/>
              </a:ext>
            </a:extLst>
          </p:cNvPr>
          <p:cNvSpPr txBox="1"/>
          <p:nvPr/>
        </p:nvSpPr>
        <p:spPr>
          <a:xfrm>
            <a:off x="506083" y="421011"/>
            <a:ext cx="91550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u="sng" dirty="0"/>
              <a:t>Justificación del cumplimiento de </a:t>
            </a:r>
            <a:r>
              <a:rPr lang="es-ES" u="sng" dirty="0" err="1"/>
              <a:t>PLd</a:t>
            </a:r>
            <a:r>
              <a:rPr lang="es-ES" u="sng" dirty="0"/>
              <a:t> con arquitectura basada en RFID + sensores Hall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18B3CE3F-F16E-0242-CFDA-2A08494807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968" y="1590381"/>
            <a:ext cx="10897535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 </a:t>
            </a:r>
            <a:r>
              <a:rPr kumimoji="0" lang="es-ES" altLang="es-E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ISO 13849-1:2024 §6.2.2 (Valores de PFH conocidos / combinación de subsistemas)</a:t>
            </a:r>
            <a:r>
              <a:rPr kumimoji="0" lang="es-ES" altLang="es-E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establece: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ES" altLang="es-E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- Para </a:t>
            </a:r>
            <a:r>
              <a:rPr kumimoji="0" lang="es-ES" altLang="es-E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subsistemas en serie</a:t>
            </a:r>
            <a:r>
              <a:rPr kumimoji="0" lang="es-ES" altLang="es-E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 A ∧ B ∧ C), el </a:t>
            </a:r>
            <a:r>
              <a:rPr kumimoji="0" lang="es-ES" altLang="es-E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PFH_D total = suma</a:t>
            </a:r>
            <a:r>
              <a:rPr kumimoji="0" lang="es-ES" altLang="es-E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los PFH_D de cada subsistema.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ES" altLang="es-E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ES" altLang="es-E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- El </a:t>
            </a:r>
            <a:r>
              <a:rPr kumimoji="0" lang="es-ES" altLang="es-E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 global</a:t>
            </a:r>
            <a:r>
              <a:rPr kumimoji="0" lang="es-ES" altLang="es-E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queda </a:t>
            </a:r>
            <a:r>
              <a:rPr kumimoji="0" lang="es-ES" altLang="es-E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limitado</a:t>
            </a:r>
            <a:r>
              <a:rPr kumimoji="0" lang="es-ES" altLang="es-E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por:</a:t>
            </a:r>
            <a:br>
              <a:rPr kumimoji="0" lang="es-ES" altLang="es-E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s-ES" altLang="es-E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PL más bajo</a:t>
            </a:r>
            <a:r>
              <a:rPr kumimoji="0" lang="es-ES" altLang="es-E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entre los subsistemas, y el </a:t>
            </a:r>
            <a:r>
              <a:rPr kumimoji="0" lang="es-ES" altLang="es-E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 que corresponde al PFH_D total</a:t>
            </a:r>
            <a:r>
              <a:rPr kumimoji="0" lang="es-ES" altLang="es-E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(mediante la </a:t>
            </a:r>
            <a:r>
              <a:rPr kumimoji="0" lang="es-ES" altLang="es-E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Tabla 2 – Niveles de prestaciones ↔ intervalos PFH_D</a:t>
            </a:r>
            <a:r>
              <a:rPr kumimoji="0" lang="es-ES" altLang="es-E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ES" altLang="es-E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Como </a:t>
            </a:r>
            <a:r>
              <a:rPr kumimoji="0" lang="es-ES" altLang="es-E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A, B y C</a:t>
            </a:r>
            <a:r>
              <a:rPr kumimoji="0" lang="es-ES" altLang="es-E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dan </a:t>
            </a:r>
            <a:r>
              <a:rPr kumimoji="0" lang="es-ES" altLang="es-E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 d</a:t>
            </a:r>
            <a:r>
              <a:rPr kumimoji="0" lang="es-ES" altLang="es-E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por K.1, y su </a:t>
            </a:r>
            <a:r>
              <a:rPr kumimoji="0" lang="es-ES" altLang="es-E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suma de PFH_D</a:t>
            </a:r>
            <a:r>
              <a:rPr kumimoji="0" lang="es-ES" altLang="es-E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seguirá dentro del intervalo </a:t>
            </a:r>
            <a:r>
              <a:rPr kumimoji="0" lang="es-ES" altLang="es-E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 d</a:t>
            </a:r>
            <a:r>
              <a:rPr kumimoji="0" lang="es-ES" altLang="es-E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lang="es-ES" sz="1200" dirty="0"/>
              <a:t>10−7 ≤ PFH &lt; 10−6</a:t>
            </a:r>
            <a:r>
              <a:rPr kumimoji="0" lang="es-ES" altLang="es-E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s-ES" altLang="es-ES" sz="1200" dirty="0">
                <a:solidFill>
                  <a:schemeClr val="tx1"/>
                </a:solidFill>
                <a:latin typeface="Arial" panose="020B0604020202020204" pitchFamily="34" charset="0"/>
              </a:rPr>
              <a:t>) </a:t>
            </a:r>
            <a:r>
              <a:rPr kumimoji="0" lang="es-ES" altLang="es-E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 la </a:t>
            </a:r>
            <a:r>
              <a:rPr kumimoji="0" lang="es-ES" altLang="es-E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Tabla 2</a:t>
            </a:r>
            <a:r>
              <a:rPr kumimoji="0" lang="es-ES" altLang="es-E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el </a:t>
            </a:r>
            <a:r>
              <a:rPr kumimoji="0" lang="es-ES" altLang="es-E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resultado global</a:t>
            </a:r>
            <a:r>
              <a:rPr kumimoji="0" lang="es-ES" altLang="es-E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PL(SRP/CS) = d</a:t>
            </a:r>
            <a:endParaRPr kumimoji="0" lang="es-ES" altLang="es-E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(siempre que se mantenga CCF ≥ 65 pt y valides Cat./DC conforme a 13849-2).</a:t>
            </a:r>
            <a:endParaRPr kumimoji="0" lang="es-ES" altLang="es-E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9AEAB67-1F6C-3CAB-0FA6-253C70447993}"/>
              </a:ext>
            </a:extLst>
          </p:cNvPr>
          <p:cNvSpPr txBox="1"/>
          <p:nvPr/>
        </p:nvSpPr>
        <p:spPr>
          <a:xfrm>
            <a:off x="304800" y="109311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Combinación de subsistemas y PL global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4474A68C-3330-BF9C-8EE2-985AD43CEA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3685884"/>
            <a:ext cx="6096000" cy="2198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8732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B0E3A-3DFD-BB28-3A60-2BBB3C631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52B8FF5E-EA64-D309-708C-82929136EC2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68891" y="331318"/>
            <a:ext cx="1465524" cy="571606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5B0D782-FB16-6B65-A332-A781D4CC830A}"/>
              </a:ext>
            </a:extLst>
          </p:cNvPr>
          <p:cNvSpPr txBox="1"/>
          <p:nvPr/>
        </p:nvSpPr>
        <p:spPr>
          <a:xfrm>
            <a:off x="506083" y="421011"/>
            <a:ext cx="91550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u="sng" dirty="0"/>
              <a:t>Justificación del cumplimiento de </a:t>
            </a:r>
            <a:r>
              <a:rPr lang="es-ES" u="sng" dirty="0" err="1"/>
              <a:t>PLd</a:t>
            </a:r>
            <a:r>
              <a:rPr lang="es-ES" u="sng" dirty="0"/>
              <a:t> con arquitectura basada en RFID + sensores Hall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C235E24-41BA-8FDB-FF83-E7E086DF3E0D}"/>
              </a:ext>
            </a:extLst>
          </p:cNvPr>
          <p:cNvSpPr txBox="1"/>
          <p:nvPr/>
        </p:nvSpPr>
        <p:spPr>
          <a:xfrm>
            <a:off x="506083" y="1219200"/>
            <a:ext cx="863791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1200" b="1" dirty="0"/>
              <a:t>Pruebas/diagnóstico del RFID para Cat. 2 (6.1.3.2.4)</a:t>
            </a:r>
          </a:p>
          <a:p>
            <a:pPr>
              <a:buNone/>
            </a:pPr>
            <a:endParaRPr lang="es-ES" sz="1200" b="1" dirty="0"/>
          </a:p>
          <a:p>
            <a:pPr>
              <a:buNone/>
            </a:pPr>
            <a:r>
              <a:rPr lang="es-ES" sz="1200" dirty="0"/>
              <a:t>Para sostener </a:t>
            </a:r>
            <a:r>
              <a:rPr lang="es-ES" sz="1200" b="1" dirty="0"/>
              <a:t>Cat. 2</a:t>
            </a:r>
            <a:r>
              <a:rPr lang="es-ES" sz="1200" dirty="0"/>
              <a:t> con </a:t>
            </a:r>
            <a:r>
              <a:rPr lang="es-ES" sz="1200" b="1" dirty="0"/>
              <a:t>DC medio (~90 %)</a:t>
            </a:r>
            <a:r>
              <a:rPr lang="es-ES" sz="1200" dirty="0"/>
              <a:t>, incluye “</a:t>
            </a:r>
            <a:r>
              <a:rPr lang="es-ES" sz="1200" b="1" dirty="0"/>
              <a:t>ensayo cíclico</a:t>
            </a:r>
            <a:r>
              <a:rPr lang="es-ES" sz="1200" dirty="0"/>
              <a:t>” y diagnóstico efectivo:</a:t>
            </a:r>
          </a:p>
          <a:p>
            <a:pPr>
              <a:buNone/>
            </a:pPr>
            <a:endParaRPr lang="es-ES" sz="1200" dirty="0"/>
          </a:p>
          <a:p>
            <a:r>
              <a:rPr lang="es-ES" sz="1200" b="1" dirty="0"/>
              <a:t> - Prueba al arranque</a:t>
            </a:r>
            <a:r>
              <a:rPr lang="es-ES" sz="1200" dirty="0"/>
              <a:t>: exigir </a:t>
            </a:r>
            <a:r>
              <a:rPr lang="es-ES" sz="1200" b="1" dirty="0"/>
              <a:t>retirar y volver a presentar</a:t>
            </a:r>
            <a:r>
              <a:rPr lang="es-ES" sz="1200" dirty="0"/>
              <a:t> el tag antes de habilitar.</a:t>
            </a:r>
          </a:p>
          <a:p>
            <a:r>
              <a:rPr lang="es-ES" sz="1200" b="1" dirty="0"/>
              <a:t> -</a:t>
            </a:r>
            <a:r>
              <a:rPr lang="es-ES" sz="1200" b="1" dirty="0" err="1"/>
              <a:t>Timeout</a:t>
            </a:r>
            <a:r>
              <a:rPr lang="es-ES" sz="1200" b="1" dirty="0"/>
              <a:t> de presencia / ventana temporal</a:t>
            </a:r>
            <a:r>
              <a:rPr lang="es-ES" sz="1200" dirty="0"/>
              <a:t>: detectar “</a:t>
            </a:r>
            <a:r>
              <a:rPr lang="es-ES" sz="1200" b="1" dirty="0" err="1"/>
              <a:t>stuck</a:t>
            </a:r>
            <a:r>
              <a:rPr lang="es-ES" sz="1200" b="1" dirty="0"/>
              <a:t>-at 1</a:t>
            </a:r>
            <a:r>
              <a:rPr lang="es-ES" sz="1200" dirty="0"/>
              <a:t>”.</a:t>
            </a:r>
          </a:p>
          <a:p>
            <a:r>
              <a:rPr lang="es-ES" sz="1200" b="1" dirty="0"/>
              <a:t> -Supervisión de línea</a:t>
            </a:r>
            <a:r>
              <a:rPr lang="es-ES" sz="1200" dirty="0"/>
              <a:t>: rotura/corto (</a:t>
            </a:r>
            <a:r>
              <a:rPr lang="es-ES" sz="1200" dirty="0" err="1"/>
              <a:t>pull</a:t>
            </a:r>
            <a:r>
              <a:rPr lang="es-ES" sz="1200" dirty="0"/>
              <a:t>-up/</a:t>
            </a:r>
            <a:r>
              <a:rPr lang="es-ES" sz="1200" dirty="0" err="1"/>
              <a:t>down</a:t>
            </a:r>
            <a:r>
              <a:rPr lang="es-ES" sz="1200" dirty="0"/>
              <a:t> + ventana analógica).</a:t>
            </a:r>
          </a:p>
          <a:p>
            <a:r>
              <a:rPr lang="es-ES" sz="1200" b="1" dirty="0"/>
              <a:t> - Plausibilidad de código</a:t>
            </a:r>
            <a:r>
              <a:rPr lang="es-ES" sz="1200" dirty="0"/>
              <a:t>: </a:t>
            </a:r>
            <a:r>
              <a:rPr lang="es-ES" sz="1200" b="1" dirty="0"/>
              <a:t>lista blanca</a:t>
            </a:r>
            <a:r>
              <a:rPr lang="es-ES" sz="1200" dirty="0"/>
              <a:t> de UID + integridad del </a:t>
            </a:r>
            <a:r>
              <a:rPr lang="es-ES" sz="1200" dirty="0" err="1"/>
              <a:t>frame</a:t>
            </a:r>
            <a:r>
              <a:rPr lang="es-ES" sz="1200" dirty="0"/>
              <a:t>.</a:t>
            </a:r>
          </a:p>
          <a:p>
            <a:r>
              <a:rPr lang="es-ES" sz="1200" b="1" dirty="0"/>
              <a:t> - Coherencia con el proceso</a:t>
            </a:r>
            <a:r>
              <a:rPr lang="es-ES" sz="1200" dirty="0"/>
              <a:t>: solo aceptar “cerrado” en zonas temporales/físicas válidas.</a:t>
            </a:r>
          </a:p>
          <a:p>
            <a:r>
              <a:rPr lang="es-ES" sz="1200" b="1" dirty="0"/>
              <a:t> - Registro de fallo y rearme controlado</a:t>
            </a:r>
            <a:r>
              <a:rPr lang="es-ES" sz="1200" dirty="0"/>
              <a:t> (no rearme espontáneo).</a:t>
            </a:r>
          </a:p>
          <a:p>
            <a:endParaRPr lang="es-ES" sz="1200" dirty="0"/>
          </a:p>
          <a:p>
            <a:pPr>
              <a:buNone/>
            </a:pPr>
            <a:r>
              <a:rPr lang="es-ES" sz="1200" dirty="0"/>
              <a:t>Con estas medidas se puede defender </a:t>
            </a:r>
            <a:r>
              <a:rPr lang="es-ES" sz="1200" b="1" dirty="0"/>
              <a:t>DCavg≈90 %</a:t>
            </a:r>
            <a:r>
              <a:rPr lang="es-ES" sz="1200" dirty="0"/>
              <a:t> vía </a:t>
            </a:r>
            <a:r>
              <a:rPr lang="es-ES" sz="1200" b="1" dirty="0"/>
              <a:t>Anexo E (estimación de DC)</a:t>
            </a:r>
            <a:r>
              <a:rPr lang="es-ES" sz="1200" dirty="0"/>
              <a:t>.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4AD5D66A-2E74-903C-7B27-A708D0A7C604}"/>
              </a:ext>
            </a:extLst>
          </p:cNvPr>
          <p:cNvSpPr txBox="1"/>
          <p:nvPr/>
        </p:nvSpPr>
        <p:spPr>
          <a:xfrm>
            <a:off x="506083" y="3537684"/>
            <a:ext cx="105156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1600" b="1" dirty="0"/>
              <a:t>Resumen de cálculo final:</a:t>
            </a:r>
          </a:p>
          <a:p>
            <a:pPr>
              <a:buNone/>
            </a:pPr>
            <a:r>
              <a:rPr lang="es-ES" sz="1600" b="1" dirty="0" err="1"/>
              <a:t>PLr</a:t>
            </a:r>
            <a:r>
              <a:rPr lang="es-ES" sz="1600" b="1" dirty="0"/>
              <a:t> de la función combinada</a:t>
            </a:r>
            <a:r>
              <a:rPr lang="es-ES" sz="1600" dirty="0"/>
              <a:t> (</a:t>
            </a:r>
            <a:r>
              <a:rPr lang="es-ES" sz="1600" dirty="0" err="1"/>
              <a:t>risk-graph</a:t>
            </a:r>
            <a:r>
              <a:rPr lang="es-ES" sz="1600" dirty="0"/>
              <a:t> Anexo A): </a:t>
            </a:r>
            <a:r>
              <a:rPr lang="es-ES" sz="1600" b="1" dirty="0" err="1"/>
              <a:t>PLr</a:t>
            </a:r>
            <a:r>
              <a:rPr lang="es-ES" sz="1600" b="1" dirty="0"/>
              <a:t> = d</a:t>
            </a:r>
            <a:r>
              <a:rPr lang="es-ES" sz="1600" dirty="0"/>
              <a:t> (S2-F2-P1).</a:t>
            </a:r>
          </a:p>
          <a:p>
            <a:pPr>
              <a:buFont typeface="+mj-lt"/>
              <a:buAutoNum type="arabicPeriod"/>
            </a:pPr>
            <a:r>
              <a:rPr lang="es-ES" sz="1600" b="1" dirty="0"/>
              <a:t>Subsistema A (RFID)</a:t>
            </a:r>
            <a:r>
              <a:rPr lang="es-ES" sz="1600" dirty="0"/>
              <a:t>: </a:t>
            </a:r>
            <a:r>
              <a:rPr lang="es-ES" sz="1600" b="1" dirty="0"/>
              <a:t>Cat. 2</a:t>
            </a:r>
            <a:r>
              <a:rPr lang="es-ES" sz="1600" dirty="0"/>
              <a:t>, </a:t>
            </a:r>
            <a:r>
              <a:rPr lang="es-ES" sz="1600" b="1" dirty="0" err="1"/>
              <a:t>MTTFdA</a:t>
            </a:r>
            <a:r>
              <a:rPr lang="es-ES" sz="1600" b="1" dirty="0"/>
              <a:t> ∈ [30…100] a</a:t>
            </a:r>
            <a:r>
              <a:rPr lang="es-ES" sz="1600" dirty="0"/>
              <a:t>, </a:t>
            </a:r>
            <a:r>
              <a:rPr lang="es-ES" sz="1600" b="1" dirty="0" err="1"/>
              <a:t>DCavgA</a:t>
            </a:r>
            <a:r>
              <a:rPr lang="es-ES" sz="1600" b="1" dirty="0"/>
              <a:t> ≈ 90 %</a:t>
            </a:r>
            <a:r>
              <a:rPr lang="es-ES" sz="1600" dirty="0"/>
              <a:t> → </a:t>
            </a:r>
            <a:r>
              <a:rPr lang="es-ES" sz="1600" b="1" dirty="0"/>
              <a:t>PL d</a:t>
            </a:r>
            <a:r>
              <a:rPr lang="es-ES" sz="1600" dirty="0"/>
              <a:t> (Tabla </a:t>
            </a:r>
            <a:r>
              <a:rPr lang="es-ES" sz="1600" b="1" dirty="0"/>
              <a:t>K.1</a:t>
            </a:r>
            <a:r>
              <a:rPr lang="es-ES" sz="1600" dirty="0"/>
              <a:t>).</a:t>
            </a:r>
          </a:p>
          <a:p>
            <a:pPr>
              <a:buFont typeface="+mj-lt"/>
              <a:buAutoNum type="arabicPeriod"/>
            </a:pPr>
            <a:r>
              <a:rPr lang="es-ES" sz="1600" b="1" dirty="0"/>
              <a:t>Subsistema B (Hall1+Hall2)</a:t>
            </a:r>
            <a:r>
              <a:rPr lang="es-ES" sz="1600" dirty="0"/>
              <a:t>: </a:t>
            </a:r>
            <a:r>
              <a:rPr lang="es-ES" sz="1600" b="1" dirty="0"/>
              <a:t>Cat. 3</a:t>
            </a:r>
            <a:r>
              <a:rPr lang="es-ES" sz="1600" dirty="0"/>
              <a:t>, </a:t>
            </a:r>
            <a:r>
              <a:rPr lang="es-ES" sz="1600" b="1" dirty="0" err="1"/>
              <a:t>MTTFd</a:t>
            </a:r>
            <a:r>
              <a:rPr lang="es-ES" sz="1600" b="1" dirty="0"/>
              <a:t> alto</a:t>
            </a:r>
            <a:r>
              <a:rPr lang="es-ES" sz="1600" dirty="0"/>
              <a:t> en ambos canales, </a:t>
            </a:r>
            <a:r>
              <a:rPr lang="es-ES" sz="1600" b="1" dirty="0" err="1"/>
              <a:t>DCavgB</a:t>
            </a:r>
            <a:r>
              <a:rPr lang="es-ES" sz="1600" b="1" dirty="0"/>
              <a:t> ≈ 90 %</a:t>
            </a:r>
            <a:r>
              <a:rPr lang="es-ES" sz="1600" dirty="0"/>
              <a:t> → </a:t>
            </a:r>
            <a:r>
              <a:rPr lang="es-ES" sz="1600" b="1" dirty="0"/>
              <a:t>PL d</a:t>
            </a:r>
            <a:r>
              <a:rPr lang="es-ES" sz="1600" dirty="0"/>
              <a:t> (K.1).</a:t>
            </a:r>
          </a:p>
          <a:p>
            <a:pPr>
              <a:buFont typeface="+mj-lt"/>
              <a:buAutoNum type="arabicPeriod"/>
            </a:pPr>
            <a:r>
              <a:rPr lang="es-ES" sz="1600" b="1" dirty="0"/>
              <a:t>Subsistema C (OSSD)</a:t>
            </a:r>
            <a:r>
              <a:rPr lang="es-ES" sz="1600" dirty="0"/>
              <a:t>: </a:t>
            </a:r>
            <a:r>
              <a:rPr lang="es-ES" sz="1600" b="1" dirty="0"/>
              <a:t>Cat. 3</a:t>
            </a:r>
            <a:r>
              <a:rPr lang="es-ES" sz="1600" dirty="0"/>
              <a:t>, </a:t>
            </a:r>
            <a:r>
              <a:rPr lang="es-ES" sz="1600" b="1" dirty="0" err="1"/>
              <a:t>MTTFd</a:t>
            </a:r>
            <a:r>
              <a:rPr lang="es-ES" sz="1600" b="1" dirty="0"/>
              <a:t> alto</a:t>
            </a:r>
            <a:r>
              <a:rPr lang="es-ES" sz="1600" dirty="0"/>
              <a:t>, </a:t>
            </a:r>
            <a:r>
              <a:rPr lang="es-ES" sz="1600" b="1" dirty="0" err="1"/>
              <a:t>DCavgC</a:t>
            </a:r>
            <a:r>
              <a:rPr lang="es-ES" sz="1600" b="1" dirty="0"/>
              <a:t> ≈ 90 %</a:t>
            </a:r>
            <a:r>
              <a:rPr lang="es-ES" sz="1600" dirty="0"/>
              <a:t> → </a:t>
            </a:r>
            <a:r>
              <a:rPr lang="es-ES" sz="1600" b="1" dirty="0"/>
              <a:t>PL d</a:t>
            </a:r>
            <a:r>
              <a:rPr lang="es-ES" sz="1600" dirty="0"/>
              <a:t> (K.1).</a:t>
            </a:r>
          </a:p>
          <a:p>
            <a:pPr>
              <a:buFont typeface="+mj-lt"/>
              <a:buAutoNum type="arabicPeriod"/>
            </a:pPr>
            <a:r>
              <a:rPr lang="es-ES" sz="1600" b="1" dirty="0"/>
              <a:t>CCF</a:t>
            </a:r>
            <a:r>
              <a:rPr lang="es-ES" sz="1600" dirty="0"/>
              <a:t>: </a:t>
            </a:r>
            <a:r>
              <a:rPr lang="es-ES" sz="1600" b="1" dirty="0"/>
              <a:t>≥ 65 pt</a:t>
            </a:r>
            <a:r>
              <a:rPr lang="es-ES" sz="1600" dirty="0"/>
              <a:t> (Anexo F) → OK.</a:t>
            </a:r>
          </a:p>
          <a:p>
            <a:pPr>
              <a:buFont typeface="+mj-lt"/>
              <a:buAutoNum type="arabicPeriod"/>
            </a:pPr>
            <a:r>
              <a:rPr lang="es-ES" sz="1600" b="1" dirty="0"/>
              <a:t>Combinación</a:t>
            </a:r>
            <a:r>
              <a:rPr lang="es-ES" sz="1600" dirty="0"/>
              <a:t> §</a:t>
            </a:r>
            <a:r>
              <a:rPr lang="es-ES" sz="1600" b="1" dirty="0"/>
              <a:t>6.2.2</a:t>
            </a:r>
            <a:r>
              <a:rPr lang="es-ES" sz="1600" dirty="0"/>
              <a:t>: </a:t>
            </a:r>
            <a:r>
              <a:rPr lang="es-ES" sz="1600" b="1" dirty="0"/>
              <a:t>serie (A∧B∧C)</a:t>
            </a:r>
            <a:r>
              <a:rPr lang="es-ES" sz="1600" dirty="0"/>
              <a:t> → </a:t>
            </a:r>
            <a:r>
              <a:rPr lang="es-ES" sz="1600" b="1" dirty="0"/>
              <a:t>PL global = d</a:t>
            </a:r>
            <a:r>
              <a:rPr lang="es-ES" sz="1600" dirty="0"/>
              <a:t> (porque </a:t>
            </a:r>
            <a:r>
              <a:rPr lang="es-ES" sz="1600" b="1" dirty="0"/>
              <a:t>min(PL_A, PL_B, PL_C)=d</a:t>
            </a:r>
            <a:r>
              <a:rPr lang="es-ES" sz="1600" dirty="0"/>
              <a:t> y el </a:t>
            </a:r>
            <a:r>
              <a:rPr lang="es-ES" sz="1600" b="1" dirty="0"/>
              <a:t>PFH_D total</a:t>
            </a:r>
            <a:r>
              <a:rPr lang="es-ES" sz="1600" dirty="0"/>
              <a:t> cae en banda </a:t>
            </a:r>
            <a:r>
              <a:rPr lang="es-ES" sz="1600" b="1" dirty="0"/>
              <a:t>PL d</a:t>
            </a:r>
            <a:r>
              <a:rPr lang="es-ES" sz="1600" dirty="0"/>
              <a:t> según </a:t>
            </a:r>
            <a:r>
              <a:rPr lang="es-ES" sz="1600" b="1" dirty="0"/>
              <a:t>Tabla 2</a:t>
            </a:r>
            <a:r>
              <a:rPr lang="es-ES" sz="1600" dirty="0"/>
              <a:t>).</a:t>
            </a:r>
          </a:p>
          <a:p>
            <a:pPr>
              <a:buFont typeface="+mj-lt"/>
              <a:buAutoNum type="arabicPeriod"/>
            </a:pPr>
            <a:r>
              <a:rPr lang="es-ES" sz="1600" b="1" dirty="0"/>
              <a:t>Validación</a:t>
            </a:r>
            <a:r>
              <a:rPr lang="es-ES" sz="1600" dirty="0"/>
              <a:t>: </a:t>
            </a:r>
            <a:r>
              <a:rPr lang="es-ES" sz="1600" b="1" dirty="0"/>
              <a:t>ISO 13849-2 §6</a:t>
            </a:r>
            <a:r>
              <a:rPr lang="es-ES" sz="1600" dirty="0"/>
              <a:t> → plan de ensayos (fallos RFID, incoherencia Hall, rotura de cable, puente OSSD, EMC, etc.).</a:t>
            </a:r>
          </a:p>
        </p:txBody>
      </p:sp>
    </p:spTree>
    <p:extLst>
      <p:ext uri="{BB962C8B-B14F-4D97-AF65-F5344CB8AC3E}">
        <p14:creationId xmlns:p14="http://schemas.microsoft.com/office/powerpoint/2010/main" val="32276324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BF148-4A79-1D40-60BB-52E7EACC4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2B576315-0890-088F-7024-7E1540FBC50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68891" y="331318"/>
            <a:ext cx="1465524" cy="571606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3A1A973C-2BEE-97C0-2D0A-3B8AEDE6F58A}"/>
              </a:ext>
            </a:extLst>
          </p:cNvPr>
          <p:cNvSpPr txBox="1"/>
          <p:nvPr/>
        </p:nvSpPr>
        <p:spPr>
          <a:xfrm>
            <a:off x="325646" y="990600"/>
            <a:ext cx="11506200" cy="4924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rgbClr val="000000"/>
                </a:solidFill>
                <a:latin typeface="Aptos" panose="020B0004020202020204" pitchFamily="34" charset="0"/>
              </a:rPr>
              <a:t>Se ha revisado la justificación de la utilización de un solo RFID para alcanzar </a:t>
            </a:r>
            <a:r>
              <a:rPr lang="es-ES" sz="2000" dirty="0" err="1">
                <a:solidFill>
                  <a:srgbClr val="000000"/>
                </a:solidFill>
                <a:latin typeface="Aptos" panose="020B0004020202020204" pitchFamily="34" charset="0"/>
              </a:rPr>
              <a:t>PLd</a:t>
            </a:r>
            <a:endParaRPr lang="es-ES" sz="2000" i="0" u="none" strike="noStrike" baseline="0" dirty="0">
              <a:solidFill>
                <a:srgbClr val="000000"/>
              </a:solidFill>
              <a:latin typeface="Aptos" panose="020B0004020202020204" pitchFamily="34" charset="0"/>
            </a:endParaRPr>
          </a:p>
          <a:p>
            <a:endParaRPr lang="es-ES" sz="2000" i="0" u="none" strike="noStrike" baseline="0" dirty="0">
              <a:solidFill>
                <a:srgbClr val="000000"/>
              </a:solidFill>
              <a:latin typeface="Aptos" panose="020B0004020202020204" pitchFamily="34" charset="0"/>
            </a:endParaRPr>
          </a:p>
          <a:p>
            <a:r>
              <a:rPr lang="es-ES" sz="2000" dirty="0">
                <a:solidFill>
                  <a:srgbClr val="000000"/>
                </a:solidFill>
                <a:latin typeface="Aptos" panose="020B0004020202020204" pitchFamily="34" charset="0"/>
              </a:rPr>
              <a:t>Pasos a seguir por parte de Circe:</a:t>
            </a:r>
          </a:p>
          <a:p>
            <a:endParaRPr lang="es-ES" sz="2000" i="0" u="none" strike="noStrike" baseline="0" dirty="0">
              <a:solidFill>
                <a:srgbClr val="000000"/>
              </a:solidFill>
              <a:latin typeface="Aptos" panose="020B0004020202020204" pitchFamily="34" charset="0"/>
            </a:endParaRPr>
          </a:p>
          <a:p>
            <a:pPr marL="342900" lvl="4" indent="-342900">
              <a:buFontTx/>
              <a:buChar char="-"/>
            </a:pPr>
            <a:r>
              <a:rPr lang="es-ES" sz="2000" dirty="0">
                <a:solidFill>
                  <a:srgbClr val="000000"/>
                </a:solidFill>
                <a:latin typeface="Aptos" panose="020B0004020202020204" pitchFamily="34" charset="0"/>
              </a:rPr>
              <a:t>Revisión de notas reunión</a:t>
            </a:r>
          </a:p>
          <a:p>
            <a:pPr lvl="4"/>
            <a:endParaRPr lang="es-ES" sz="2000" dirty="0">
              <a:solidFill>
                <a:srgbClr val="000000"/>
              </a:solidFill>
              <a:latin typeface="Aptos" panose="020B0004020202020204" pitchFamily="34" charset="0"/>
            </a:endParaRPr>
          </a:p>
          <a:p>
            <a:pPr marL="342900" lvl="4" indent="-342900">
              <a:buFontTx/>
              <a:buChar char="-"/>
            </a:pPr>
            <a:r>
              <a:rPr lang="es-ES" sz="2000" dirty="0">
                <a:solidFill>
                  <a:srgbClr val="000000"/>
                </a:solidFill>
                <a:latin typeface="Aptos" panose="020B0004020202020204" pitchFamily="34" charset="0"/>
              </a:rPr>
              <a:t>Búsqueda de componentes críticos (RFID, HALL analógicos, Drivers OSSD) con la mente puesta en el cumplimiento de la normativa (MTTF, FMEDA) del fabricante (Javier Berges)</a:t>
            </a:r>
          </a:p>
          <a:p>
            <a:pPr marL="342900" lvl="4" indent="-342900">
              <a:buFontTx/>
              <a:buChar char="-"/>
            </a:pPr>
            <a:endParaRPr lang="es-ES" sz="2000" dirty="0">
              <a:solidFill>
                <a:srgbClr val="000000"/>
              </a:solidFill>
              <a:latin typeface="Aptos" panose="020B0004020202020204" pitchFamily="34" charset="0"/>
            </a:endParaRPr>
          </a:p>
          <a:p>
            <a:pPr marL="342900" lvl="4" indent="-342900">
              <a:buFontTx/>
              <a:buChar char="-"/>
            </a:pPr>
            <a:r>
              <a:rPr lang="es-ES" sz="2000" dirty="0">
                <a:solidFill>
                  <a:srgbClr val="000000"/>
                </a:solidFill>
                <a:latin typeface="Aptos" panose="020B0004020202020204" pitchFamily="34" charset="0"/>
              </a:rPr>
              <a:t>Revisar la parte de como nos afecta a efectos normativos el hecho de que la señal de desbloqueo llegue al </a:t>
            </a:r>
            <a:r>
              <a:rPr lang="es-ES" sz="2000" dirty="0" err="1">
                <a:solidFill>
                  <a:srgbClr val="000000"/>
                </a:solidFill>
                <a:latin typeface="Aptos" panose="020B0004020202020204" pitchFamily="34" charset="0"/>
              </a:rPr>
              <a:t>DoorLock</a:t>
            </a:r>
            <a:r>
              <a:rPr lang="es-ES" sz="2000" dirty="0">
                <a:solidFill>
                  <a:srgbClr val="000000"/>
                </a:solidFill>
                <a:latin typeface="Aptos" panose="020B0004020202020204" pitchFamily="34" charset="0"/>
              </a:rPr>
              <a:t> como dos señales y hay que hacer el </a:t>
            </a:r>
            <a:r>
              <a:rPr lang="es-ES" sz="2000" dirty="0" err="1">
                <a:solidFill>
                  <a:srgbClr val="000000"/>
                </a:solidFill>
                <a:latin typeface="Aptos" panose="020B0004020202020204" pitchFamily="34" charset="0"/>
              </a:rPr>
              <a:t>PLd</a:t>
            </a:r>
            <a:r>
              <a:rPr lang="es-ES" sz="2000" dirty="0">
                <a:solidFill>
                  <a:srgbClr val="000000"/>
                </a:solidFill>
                <a:latin typeface="Aptos" panose="020B0004020202020204" pitchFamily="34" charset="0"/>
              </a:rPr>
              <a:t> (OSSD ) dentro o que nos llegue ya una única señal que ya venga de un relé de seguridad como </a:t>
            </a:r>
            <a:r>
              <a:rPr lang="es-ES" sz="2000" dirty="0" err="1">
                <a:solidFill>
                  <a:srgbClr val="000000"/>
                </a:solidFill>
                <a:latin typeface="Aptos" panose="020B0004020202020204" pitchFamily="34" charset="0"/>
              </a:rPr>
              <a:t>PLd</a:t>
            </a:r>
            <a:r>
              <a:rPr lang="es-ES" sz="2000" dirty="0">
                <a:solidFill>
                  <a:srgbClr val="000000"/>
                </a:solidFill>
                <a:latin typeface="Aptos" panose="020B0004020202020204" pitchFamily="34" charset="0"/>
              </a:rPr>
              <a:t>. Qué implica y que nos conviene más. Javier Granado)</a:t>
            </a:r>
          </a:p>
          <a:p>
            <a:r>
              <a:rPr lang="es-ES" dirty="0">
                <a:solidFill>
                  <a:srgbClr val="000000"/>
                </a:solidFill>
                <a:latin typeface="Aptos" panose="020B0004020202020204" pitchFamily="34" charset="0"/>
              </a:rPr>
              <a:t>	</a:t>
            </a:r>
          </a:p>
          <a:p>
            <a:endParaRPr lang="es-ES" sz="3600" i="0" u="none" strike="noStrike" baseline="0" dirty="0">
              <a:solidFill>
                <a:srgbClr val="00000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1397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218C8C-6FE3-2E84-37AB-5177CD079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24A5FC8A-4F9C-4E69-EC78-70A72D3EE87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68891" y="331318"/>
            <a:ext cx="1465524" cy="571606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E9EAE115-E155-E323-24BE-79DEAFD18A0F}"/>
              </a:ext>
            </a:extLst>
          </p:cNvPr>
          <p:cNvSpPr txBox="1"/>
          <p:nvPr/>
        </p:nvSpPr>
        <p:spPr>
          <a:xfrm>
            <a:off x="457200" y="3200400"/>
            <a:ext cx="1087305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4400" b="1" i="0" u="none" strike="noStrike" baseline="0" dirty="0">
                <a:solidFill>
                  <a:srgbClr val="000000"/>
                </a:solidFill>
                <a:latin typeface="Aptos" panose="020B0004020202020204" pitchFamily="34" charset="0"/>
              </a:rPr>
              <a:t>Fin reunión de seguimiento  - </a:t>
            </a:r>
            <a:r>
              <a:rPr lang="es-ES" sz="4400" b="1" dirty="0">
                <a:solidFill>
                  <a:srgbClr val="000000"/>
                </a:solidFill>
                <a:latin typeface="Aptos" panose="020B0004020202020204" pitchFamily="34" charset="0"/>
              </a:rPr>
              <a:t>25</a:t>
            </a:r>
            <a:r>
              <a:rPr lang="es-ES" sz="4400" b="1" i="0" u="none" strike="noStrike" baseline="0" dirty="0">
                <a:solidFill>
                  <a:srgbClr val="000000"/>
                </a:solidFill>
                <a:latin typeface="Aptos" panose="020B0004020202020204" pitchFamily="34" charset="0"/>
              </a:rPr>
              <a:t>/09/2025</a:t>
            </a:r>
          </a:p>
        </p:txBody>
      </p:sp>
    </p:spTree>
    <p:extLst>
      <p:ext uri="{BB962C8B-B14F-4D97-AF65-F5344CB8AC3E}">
        <p14:creationId xmlns:p14="http://schemas.microsoft.com/office/powerpoint/2010/main" val="19983815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BEC4D5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10750804" y="569468"/>
            <a:ext cx="728980" cy="2175510"/>
            <a:chOff x="10750804" y="569468"/>
            <a:chExt cx="728980" cy="2175510"/>
          </a:xfrm>
        </p:grpSpPr>
        <p:sp>
          <p:nvSpPr>
            <p:cNvPr id="4" name="object 4"/>
            <p:cNvSpPr/>
            <p:nvPr/>
          </p:nvSpPr>
          <p:spPr>
            <a:xfrm>
              <a:off x="10760329" y="578993"/>
              <a:ext cx="709930" cy="535940"/>
            </a:xfrm>
            <a:custGeom>
              <a:avLst/>
              <a:gdLst/>
              <a:ahLst/>
              <a:cxnLst/>
              <a:rect l="l" t="t" r="r" b="b"/>
              <a:pathLst>
                <a:path w="709929" h="535940">
                  <a:moveTo>
                    <a:pt x="0" y="535559"/>
                  </a:moveTo>
                  <a:lnTo>
                    <a:pt x="0" y="267716"/>
                  </a:lnTo>
                  <a:lnTo>
                    <a:pt x="354711" y="0"/>
                  </a:lnTo>
                  <a:lnTo>
                    <a:pt x="709549" y="267716"/>
                  </a:lnTo>
                  <a:lnTo>
                    <a:pt x="709549" y="535559"/>
                  </a:lnTo>
                  <a:lnTo>
                    <a:pt x="354711" y="267716"/>
                  </a:lnTo>
                  <a:lnTo>
                    <a:pt x="0" y="535559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760329" y="1117473"/>
              <a:ext cx="709930" cy="535940"/>
            </a:xfrm>
            <a:custGeom>
              <a:avLst/>
              <a:gdLst/>
              <a:ahLst/>
              <a:cxnLst/>
              <a:rect l="l" t="t" r="r" b="b"/>
              <a:pathLst>
                <a:path w="709929" h="535939">
                  <a:moveTo>
                    <a:pt x="0" y="535559"/>
                  </a:moveTo>
                  <a:lnTo>
                    <a:pt x="0" y="267842"/>
                  </a:lnTo>
                  <a:lnTo>
                    <a:pt x="354838" y="0"/>
                  </a:lnTo>
                  <a:lnTo>
                    <a:pt x="709549" y="267842"/>
                  </a:lnTo>
                  <a:lnTo>
                    <a:pt x="709549" y="535559"/>
                  </a:lnTo>
                  <a:lnTo>
                    <a:pt x="354838" y="267842"/>
                  </a:lnTo>
                  <a:lnTo>
                    <a:pt x="0" y="535559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760329" y="1661668"/>
              <a:ext cx="709930" cy="535940"/>
            </a:xfrm>
            <a:custGeom>
              <a:avLst/>
              <a:gdLst/>
              <a:ahLst/>
              <a:cxnLst/>
              <a:rect l="l" t="t" r="r" b="b"/>
              <a:pathLst>
                <a:path w="709929" h="535939">
                  <a:moveTo>
                    <a:pt x="0" y="535686"/>
                  </a:moveTo>
                  <a:lnTo>
                    <a:pt x="0" y="267843"/>
                  </a:lnTo>
                  <a:lnTo>
                    <a:pt x="354711" y="0"/>
                  </a:lnTo>
                  <a:lnTo>
                    <a:pt x="709549" y="267843"/>
                  </a:lnTo>
                  <a:lnTo>
                    <a:pt x="709549" y="535686"/>
                  </a:lnTo>
                  <a:lnTo>
                    <a:pt x="354711" y="267843"/>
                  </a:lnTo>
                  <a:lnTo>
                    <a:pt x="0" y="535686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0760329" y="2199259"/>
              <a:ext cx="709930" cy="535940"/>
            </a:xfrm>
            <a:custGeom>
              <a:avLst/>
              <a:gdLst/>
              <a:ahLst/>
              <a:cxnLst/>
              <a:rect l="l" t="t" r="r" b="b"/>
              <a:pathLst>
                <a:path w="709929" h="535939">
                  <a:moveTo>
                    <a:pt x="0" y="535686"/>
                  </a:moveTo>
                  <a:lnTo>
                    <a:pt x="0" y="267842"/>
                  </a:lnTo>
                  <a:lnTo>
                    <a:pt x="354711" y="0"/>
                  </a:lnTo>
                  <a:lnTo>
                    <a:pt x="709549" y="267842"/>
                  </a:lnTo>
                  <a:lnTo>
                    <a:pt x="709549" y="535686"/>
                  </a:lnTo>
                  <a:lnTo>
                    <a:pt x="354711" y="267842"/>
                  </a:lnTo>
                  <a:lnTo>
                    <a:pt x="0" y="535686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00977" y="6150864"/>
            <a:ext cx="1630045" cy="318516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8528557" y="6107633"/>
            <a:ext cx="383540" cy="371475"/>
            <a:chOff x="8528557" y="6107633"/>
            <a:chExt cx="383540" cy="371475"/>
          </a:xfrm>
        </p:grpSpPr>
        <p:sp>
          <p:nvSpPr>
            <p:cNvPr id="10" name="object 10"/>
            <p:cNvSpPr/>
            <p:nvPr/>
          </p:nvSpPr>
          <p:spPr>
            <a:xfrm>
              <a:off x="8534907" y="6113983"/>
              <a:ext cx="370840" cy="358775"/>
            </a:xfrm>
            <a:custGeom>
              <a:avLst/>
              <a:gdLst/>
              <a:ahLst/>
              <a:cxnLst/>
              <a:rect l="l" t="t" r="r" b="b"/>
              <a:pathLst>
                <a:path w="370840" h="358775">
                  <a:moveTo>
                    <a:pt x="185420" y="0"/>
                  </a:moveTo>
                  <a:lnTo>
                    <a:pt x="136098" y="6401"/>
                  </a:lnTo>
                  <a:lnTo>
                    <a:pt x="91797" y="24468"/>
                  </a:lnTo>
                  <a:lnTo>
                    <a:pt x="54276" y="52490"/>
                  </a:lnTo>
                  <a:lnTo>
                    <a:pt x="25296" y="88760"/>
                  </a:lnTo>
                  <a:lnTo>
                    <a:pt x="6617" y="131569"/>
                  </a:lnTo>
                  <a:lnTo>
                    <a:pt x="0" y="179209"/>
                  </a:lnTo>
                  <a:lnTo>
                    <a:pt x="6617" y="226854"/>
                  </a:lnTo>
                  <a:lnTo>
                    <a:pt x="25296" y="269667"/>
                  </a:lnTo>
                  <a:lnTo>
                    <a:pt x="54276" y="305939"/>
                  </a:lnTo>
                  <a:lnTo>
                    <a:pt x="91797" y="333963"/>
                  </a:lnTo>
                  <a:lnTo>
                    <a:pt x="136098" y="352030"/>
                  </a:lnTo>
                  <a:lnTo>
                    <a:pt x="185420" y="358432"/>
                  </a:lnTo>
                  <a:lnTo>
                    <a:pt x="234687" y="352030"/>
                  </a:lnTo>
                  <a:lnTo>
                    <a:pt x="278953" y="333963"/>
                  </a:lnTo>
                  <a:lnTo>
                    <a:pt x="316452" y="305939"/>
                  </a:lnTo>
                  <a:lnTo>
                    <a:pt x="345421" y="269667"/>
                  </a:lnTo>
                  <a:lnTo>
                    <a:pt x="364096" y="226854"/>
                  </a:lnTo>
                  <a:lnTo>
                    <a:pt x="370713" y="179209"/>
                  </a:lnTo>
                  <a:lnTo>
                    <a:pt x="364096" y="131569"/>
                  </a:lnTo>
                  <a:lnTo>
                    <a:pt x="345421" y="88760"/>
                  </a:lnTo>
                  <a:lnTo>
                    <a:pt x="316452" y="52490"/>
                  </a:lnTo>
                  <a:lnTo>
                    <a:pt x="278953" y="24468"/>
                  </a:lnTo>
                  <a:lnTo>
                    <a:pt x="234687" y="6401"/>
                  </a:lnTo>
                  <a:lnTo>
                    <a:pt x="1854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534907" y="6113983"/>
              <a:ext cx="370840" cy="358775"/>
            </a:xfrm>
            <a:custGeom>
              <a:avLst/>
              <a:gdLst/>
              <a:ahLst/>
              <a:cxnLst/>
              <a:rect l="l" t="t" r="r" b="b"/>
              <a:pathLst>
                <a:path w="370840" h="358775">
                  <a:moveTo>
                    <a:pt x="0" y="179209"/>
                  </a:moveTo>
                  <a:lnTo>
                    <a:pt x="6617" y="131569"/>
                  </a:lnTo>
                  <a:lnTo>
                    <a:pt x="25296" y="88760"/>
                  </a:lnTo>
                  <a:lnTo>
                    <a:pt x="54276" y="52490"/>
                  </a:lnTo>
                  <a:lnTo>
                    <a:pt x="91797" y="24468"/>
                  </a:lnTo>
                  <a:lnTo>
                    <a:pt x="136098" y="6401"/>
                  </a:lnTo>
                  <a:lnTo>
                    <a:pt x="185420" y="0"/>
                  </a:lnTo>
                  <a:lnTo>
                    <a:pt x="234687" y="6401"/>
                  </a:lnTo>
                  <a:lnTo>
                    <a:pt x="278953" y="24468"/>
                  </a:lnTo>
                  <a:lnTo>
                    <a:pt x="316452" y="52490"/>
                  </a:lnTo>
                  <a:lnTo>
                    <a:pt x="345421" y="88760"/>
                  </a:lnTo>
                  <a:lnTo>
                    <a:pt x="364096" y="131569"/>
                  </a:lnTo>
                  <a:lnTo>
                    <a:pt x="370713" y="179209"/>
                  </a:lnTo>
                  <a:lnTo>
                    <a:pt x="364096" y="226854"/>
                  </a:lnTo>
                  <a:lnTo>
                    <a:pt x="345421" y="269667"/>
                  </a:lnTo>
                  <a:lnTo>
                    <a:pt x="316452" y="305939"/>
                  </a:lnTo>
                  <a:lnTo>
                    <a:pt x="278953" y="333963"/>
                  </a:lnTo>
                  <a:lnTo>
                    <a:pt x="234687" y="352030"/>
                  </a:lnTo>
                  <a:lnTo>
                    <a:pt x="185420" y="358432"/>
                  </a:lnTo>
                  <a:lnTo>
                    <a:pt x="136098" y="352030"/>
                  </a:lnTo>
                  <a:lnTo>
                    <a:pt x="91797" y="333963"/>
                  </a:lnTo>
                  <a:lnTo>
                    <a:pt x="54276" y="305939"/>
                  </a:lnTo>
                  <a:lnTo>
                    <a:pt x="25296" y="269667"/>
                  </a:lnTo>
                  <a:lnTo>
                    <a:pt x="6617" y="226854"/>
                  </a:lnTo>
                  <a:lnTo>
                    <a:pt x="0" y="179209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9016492" y="6111849"/>
            <a:ext cx="376555" cy="364490"/>
            <a:chOff x="9016492" y="6111849"/>
            <a:chExt cx="376555" cy="364490"/>
          </a:xfrm>
        </p:grpSpPr>
        <p:sp>
          <p:nvSpPr>
            <p:cNvPr id="13" name="object 13"/>
            <p:cNvSpPr/>
            <p:nvPr/>
          </p:nvSpPr>
          <p:spPr>
            <a:xfrm>
              <a:off x="9022842" y="6118199"/>
              <a:ext cx="363855" cy="351790"/>
            </a:xfrm>
            <a:custGeom>
              <a:avLst/>
              <a:gdLst/>
              <a:ahLst/>
              <a:cxnLst/>
              <a:rect l="l" t="t" r="r" b="b"/>
              <a:pathLst>
                <a:path w="363854" h="351789">
                  <a:moveTo>
                    <a:pt x="181990" y="0"/>
                  </a:moveTo>
                  <a:lnTo>
                    <a:pt x="133629" y="6281"/>
                  </a:lnTo>
                  <a:lnTo>
                    <a:pt x="90160" y="24008"/>
                  </a:lnTo>
                  <a:lnTo>
                    <a:pt x="53324" y="51504"/>
                  </a:lnTo>
                  <a:lnTo>
                    <a:pt x="24859" y="87095"/>
                  </a:lnTo>
                  <a:lnTo>
                    <a:pt x="6504" y="129104"/>
                  </a:lnTo>
                  <a:lnTo>
                    <a:pt x="0" y="175856"/>
                  </a:lnTo>
                  <a:lnTo>
                    <a:pt x="6504" y="222608"/>
                  </a:lnTo>
                  <a:lnTo>
                    <a:pt x="24859" y="264618"/>
                  </a:lnTo>
                  <a:lnTo>
                    <a:pt x="53324" y="300208"/>
                  </a:lnTo>
                  <a:lnTo>
                    <a:pt x="90160" y="327705"/>
                  </a:lnTo>
                  <a:lnTo>
                    <a:pt x="133629" y="345432"/>
                  </a:lnTo>
                  <a:lnTo>
                    <a:pt x="181990" y="351713"/>
                  </a:lnTo>
                  <a:lnTo>
                    <a:pt x="230343" y="345432"/>
                  </a:lnTo>
                  <a:lnTo>
                    <a:pt x="273788" y="327705"/>
                  </a:lnTo>
                  <a:lnTo>
                    <a:pt x="310594" y="300208"/>
                  </a:lnTo>
                  <a:lnTo>
                    <a:pt x="339028" y="264618"/>
                  </a:lnTo>
                  <a:lnTo>
                    <a:pt x="357359" y="222608"/>
                  </a:lnTo>
                  <a:lnTo>
                    <a:pt x="363854" y="175856"/>
                  </a:lnTo>
                  <a:lnTo>
                    <a:pt x="357359" y="129104"/>
                  </a:lnTo>
                  <a:lnTo>
                    <a:pt x="339028" y="87095"/>
                  </a:lnTo>
                  <a:lnTo>
                    <a:pt x="310594" y="51504"/>
                  </a:lnTo>
                  <a:lnTo>
                    <a:pt x="273788" y="24008"/>
                  </a:lnTo>
                  <a:lnTo>
                    <a:pt x="230343" y="6281"/>
                  </a:lnTo>
                  <a:lnTo>
                    <a:pt x="18199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022842" y="6118199"/>
              <a:ext cx="363855" cy="351790"/>
            </a:xfrm>
            <a:custGeom>
              <a:avLst/>
              <a:gdLst/>
              <a:ahLst/>
              <a:cxnLst/>
              <a:rect l="l" t="t" r="r" b="b"/>
              <a:pathLst>
                <a:path w="363854" h="351789">
                  <a:moveTo>
                    <a:pt x="0" y="175856"/>
                  </a:moveTo>
                  <a:lnTo>
                    <a:pt x="6504" y="129104"/>
                  </a:lnTo>
                  <a:lnTo>
                    <a:pt x="24859" y="87095"/>
                  </a:lnTo>
                  <a:lnTo>
                    <a:pt x="53324" y="51504"/>
                  </a:lnTo>
                  <a:lnTo>
                    <a:pt x="90160" y="24008"/>
                  </a:lnTo>
                  <a:lnTo>
                    <a:pt x="133629" y="6281"/>
                  </a:lnTo>
                  <a:lnTo>
                    <a:pt x="181990" y="0"/>
                  </a:lnTo>
                  <a:lnTo>
                    <a:pt x="230343" y="6281"/>
                  </a:lnTo>
                  <a:lnTo>
                    <a:pt x="273788" y="24008"/>
                  </a:lnTo>
                  <a:lnTo>
                    <a:pt x="310594" y="51504"/>
                  </a:lnTo>
                  <a:lnTo>
                    <a:pt x="339028" y="87095"/>
                  </a:lnTo>
                  <a:lnTo>
                    <a:pt x="357359" y="129104"/>
                  </a:lnTo>
                  <a:lnTo>
                    <a:pt x="363854" y="175856"/>
                  </a:lnTo>
                  <a:lnTo>
                    <a:pt x="357359" y="222608"/>
                  </a:lnTo>
                  <a:lnTo>
                    <a:pt x="339028" y="264618"/>
                  </a:lnTo>
                  <a:lnTo>
                    <a:pt x="310594" y="300208"/>
                  </a:lnTo>
                  <a:lnTo>
                    <a:pt x="273788" y="327705"/>
                  </a:lnTo>
                  <a:lnTo>
                    <a:pt x="230343" y="345432"/>
                  </a:lnTo>
                  <a:lnTo>
                    <a:pt x="181990" y="351713"/>
                  </a:lnTo>
                  <a:lnTo>
                    <a:pt x="133629" y="345432"/>
                  </a:lnTo>
                  <a:lnTo>
                    <a:pt x="90160" y="327705"/>
                  </a:lnTo>
                  <a:lnTo>
                    <a:pt x="53324" y="300208"/>
                  </a:lnTo>
                  <a:lnTo>
                    <a:pt x="24859" y="264618"/>
                  </a:lnTo>
                  <a:lnTo>
                    <a:pt x="6504" y="222608"/>
                  </a:lnTo>
                  <a:lnTo>
                    <a:pt x="0" y="175856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9507219" y="6096812"/>
            <a:ext cx="376555" cy="364490"/>
            <a:chOff x="9507219" y="6096812"/>
            <a:chExt cx="376555" cy="364490"/>
          </a:xfrm>
        </p:grpSpPr>
        <p:sp>
          <p:nvSpPr>
            <p:cNvPr id="16" name="object 16"/>
            <p:cNvSpPr/>
            <p:nvPr/>
          </p:nvSpPr>
          <p:spPr>
            <a:xfrm>
              <a:off x="9513569" y="6103162"/>
              <a:ext cx="363855" cy="351790"/>
            </a:xfrm>
            <a:custGeom>
              <a:avLst/>
              <a:gdLst/>
              <a:ahLst/>
              <a:cxnLst/>
              <a:rect l="l" t="t" r="r" b="b"/>
              <a:pathLst>
                <a:path w="363854" h="351789">
                  <a:moveTo>
                    <a:pt x="181990" y="0"/>
                  </a:moveTo>
                  <a:lnTo>
                    <a:pt x="133629" y="6281"/>
                  </a:lnTo>
                  <a:lnTo>
                    <a:pt x="90160" y="24008"/>
                  </a:lnTo>
                  <a:lnTo>
                    <a:pt x="53324" y="51504"/>
                  </a:lnTo>
                  <a:lnTo>
                    <a:pt x="24859" y="87095"/>
                  </a:lnTo>
                  <a:lnTo>
                    <a:pt x="6504" y="129104"/>
                  </a:lnTo>
                  <a:lnTo>
                    <a:pt x="0" y="175856"/>
                  </a:lnTo>
                  <a:lnTo>
                    <a:pt x="6504" y="222608"/>
                  </a:lnTo>
                  <a:lnTo>
                    <a:pt x="24859" y="264618"/>
                  </a:lnTo>
                  <a:lnTo>
                    <a:pt x="53324" y="300208"/>
                  </a:lnTo>
                  <a:lnTo>
                    <a:pt x="90160" y="327705"/>
                  </a:lnTo>
                  <a:lnTo>
                    <a:pt x="133629" y="345432"/>
                  </a:lnTo>
                  <a:lnTo>
                    <a:pt x="181990" y="351713"/>
                  </a:lnTo>
                  <a:lnTo>
                    <a:pt x="230343" y="345432"/>
                  </a:lnTo>
                  <a:lnTo>
                    <a:pt x="273788" y="327705"/>
                  </a:lnTo>
                  <a:lnTo>
                    <a:pt x="310594" y="300208"/>
                  </a:lnTo>
                  <a:lnTo>
                    <a:pt x="339028" y="264618"/>
                  </a:lnTo>
                  <a:lnTo>
                    <a:pt x="357359" y="222608"/>
                  </a:lnTo>
                  <a:lnTo>
                    <a:pt x="363854" y="175856"/>
                  </a:lnTo>
                  <a:lnTo>
                    <a:pt x="357359" y="129104"/>
                  </a:lnTo>
                  <a:lnTo>
                    <a:pt x="339028" y="87095"/>
                  </a:lnTo>
                  <a:lnTo>
                    <a:pt x="310594" y="51504"/>
                  </a:lnTo>
                  <a:lnTo>
                    <a:pt x="273788" y="24008"/>
                  </a:lnTo>
                  <a:lnTo>
                    <a:pt x="230343" y="6281"/>
                  </a:lnTo>
                  <a:lnTo>
                    <a:pt x="18199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9513569" y="6103162"/>
              <a:ext cx="363855" cy="351790"/>
            </a:xfrm>
            <a:custGeom>
              <a:avLst/>
              <a:gdLst/>
              <a:ahLst/>
              <a:cxnLst/>
              <a:rect l="l" t="t" r="r" b="b"/>
              <a:pathLst>
                <a:path w="363854" h="351789">
                  <a:moveTo>
                    <a:pt x="0" y="175856"/>
                  </a:moveTo>
                  <a:lnTo>
                    <a:pt x="6504" y="129104"/>
                  </a:lnTo>
                  <a:lnTo>
                    <a:pt x="24859" y="87095"/>
                  </a:lnTo>
                  <a:lnTo>
                    <a:pt x="53324" y="51504"/>
                  </a:lnTo>
                  <a:lnTo>
                    <a:pt x="90160" y="24008"/>
                  </a:lnTo>
                  <a:lnTo>
                    <a:pt x="133629" y="6281"/>
                  </a:lnTo>
                  <a:lnTo>
                    <a:pt x="181990" y="0"/>
                  </a:lnTo>
                  <a:lnTo>
                    <a:pt x="230343" y="6281"/>
                  </a:lnTo>
                  <a:lnTo>
                    <a:pt x="273788" y="24008"/>
                  </a:lnTo>
                  <a:lnTo>
                    <a:pt x="310594" y="51504"/>
                  </a:lnTo>
                  <a:lnTo>
                    <a:pt x="339028" y="87095"/>
                  </a:lnTo>
                  <a:lnTo>
                    <a:pt x="357359" y="129104"/>
                  </a:lnTo>
                  <a:lnTo>
                    <a:pt x="363854" y="175856"/>
                  </a:lnTo>
                  <a:lnTo>
                    <a:pt x="357359" y="222608"/>
                  </a:lnTo>
                  <a:lnTo>
                    <a:pt x="339028" y="264618"/>
                  </a:lnTo>
                  <a:lnTo>
                    <a:pt x="310594" y="300208"/>
                  </a:lnTo>
                  <a:lnTo>
                    <a:pt x="273788" y="327705"/>
                  </a:lnTo>
                  <a:lnTo>
                    <a:pt x="230343" y="345432"/>
                  </a:lnTo>
                  <a:lnTo>
                    <a:pt x="181990" y="351713"/>
                  </a:lnTo>
                  <a:lnTo>
                    <a:pt x="133629" y="345432"/>
                  </a:lnTo>
                  <a:lnTo>
                    <a:pt x="90160" y="327705"/>
                  </a:lnTo>
                  <a:lnTo>
                    <a:pt x="53324" y="300208"/>
                  </a:lnTo>
                  <a:lnTo>
                    <a:pt x="24859" y="264618"/>
                  </a:lnTo>
                  <a:lnTo>
                    <a:pt x="6504" y="222608"/>
                  </a:lnTo>
                  <a:lnTo>
                    <a:pt x="0" y="175856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9986009" y="6104674"/>
            <a:ext cx="376555" cy="364490"/>
            <a:chOff x="9986009" y="6104674"/>
            <a:chExt cx="376555" cy="364490"/>
          </a:xfrm>
        </p:grpSpPr>
        <p:sp>
          <p:nvSpPr>
            <p:cNvPr id="19" name="object 19"/>
            <p:cNvSpPr/>
            <p:nvPr/>
          </p:nvSpPr>
          <p:spPr>
            <a:xfrm>
              <a:off x="9992359" y="6111024"/>
              <a:ext cx="363855" cy="351790"/>
            </a:xfrm>
            <a:custGeom>
              <a:avLst/>
              <a:gdLst/>
              <a:ahLst/>
              <a:cxnLst/>
              <a:rect l="l" t="t" r="r" b="b"/>
              <a:pathLst>
                <a:path w="363854" h="351789">
                  <a:moveTo>
                    <a:pt x="181991" y="0"/>
                  </a:moveTo>
                  <a:lnTo>
                    <a:pt x="133629" y="6282"/>
                  </a:lnTo>
                  <a:lnTo>
                    <a:pt x="90160" y="24011"/>
                  </a:lnTo>
                  <a:lnTo>
                    <a:pt x="53324" y="51511"/>
                  </a:lnTo>
                  <a:lnTo>
                    <a:pt x="24859" y="87105"/>
                  </a:lnTo>
                  <a:lnTo>
                    <a:pt x="6504" y="129116"/>
                  </a:lnTo>
                  <a:lnTo>
                    <a:pt x="0" y="175869"/>
                  </a:lnTo>
                  <a:lnTo>
                    <a:pt x="6504" y="222617"/>
                  </a:lnTo>
                  <a:lnTo>
                    <a:pt x="24859" y="264625"/>
                  </a:lnTo>
                  <a:lnTo>
                    <a:pt x="53324" y="300216"/>
                  </a:lnTo>
                  <a:lnTo>
                    <a:pt x="90160" y="327715"/>
                  </a:lnTo>
                  <a:lnTo>
                    <a:pt x="133629" y="345444"/>
                  </a:lnTo>
                  <a:lnTo>
                    <a:pt x="181991" y="351726"/>
                  </a:lnTo>
                  <a:lnTo>
                    <a:pt x="230343" y="345444"/>
                  </a:lnTo>
                  <a:lnTo>
                    <a:pt x="273788" y="327715"/>
                  </a:lnTo>
                  <a:lnTo>
                    <a:pt x="310594" y="300216"/>
                  </a:lnTo>
                  <a:lnTo>
                    <a:pt x="339028" y="264625"/>
                  </a:lnTo>
                  <a:lnTo>
                    <a:pt x="357359" y="222617"/>
                  </a:lnTo>
                  <a:lnTo>
                    <a:pt x="363855" y="175869"/>
                  </a:lnTo>
                  <a:lnTo>
                    <a:pt x="357359" y="129116"/>
                  </a:lnTo>
                  <a:lnTo>
                    <a:pt x="339028" y="87105"/>
                  </a:lnTo>
                  <a:lnTo>
                    <a:pt x="310594" y="51511"/>
                  </a:lnTo>
                  <a:lnTo>
                    <a:pt x="273788" y="24011"/>
                  </a:lnTo>
                  <a:lnTo>
                    <a:pt x="230343" y="6282"/>
                  </a:lnTo>
                  <a:lnTo>
                    <a:pt x="18199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9992359" y="6111024"/>
              <a:ext cx="363855" cy="351790"/>
            </a:xfrm>
            <a:custGeom>
              <a:avLst/>
              <a:gdLst/>
              <a:ahLst/>
              <a:cxnLst/>
              <a:rect l="l" t="t" r="r" b="b"/>
              <a:pathLst>
                <a:path w="363854" h="351789">
                  <a:moveTo>
                    <a:pt x="0" y="175869"/>
                  </a:moveTo>
                  <a:lnTo>
                    <a:pt x="6504" y="129116"/>
                  </a:lnTo>
                  <a:lnTo>
                    <a:pt x="24859" y="87105"/>
                  </a:lnTo>
                  <a:lnTo>
                    <a:pt x="53324" y="51511"/>
                  </a:lnTo>
                  <a:lnTo>
                    <a:pt x="90160" y="24011"/>
                  </a:lnTo>
                  <a:lnTo>
                    <a:pt x="133629" y="6282"/>
                  </a:lnTo>
                  <a:lnTo>
                    <a:pt x="181991" y="0"/>
                  </a:lnTo>
                  <a:lnTo>
                    <a:pt x="230343" y="6282"/>
                  </a:lnTo>
                  <a:lnTo>
                    <a:pt x="273788" y="24011"/>
                  </a:lnTo>
                  <a:lnTo>
                    <a:pt x="310594" y="51511"/>
                  </a:lnTo>
                  <a:lnTo>
                    <a:pt x="339028" y="87105"/>
                  </a:lnTo>
                  <a:lnTo>
                    <a:pt x="357359" y="129116"/>
                  </a:lnTo>
                  <a:lnTo>
                    <a:pt x="363855" y="175869"/>
                  </a:lnTo>
                  <a:lnTo>
                    <a:pt x="357359" y="222617"/>
                  </a:lnTo>
                  <a:lnTo>
                    <a:pt x="339028" y="264625"/>
                  </a:lnTo>
                  <a:lnTo>
                    <a:pt x="310594" y="300216"/>
                  </a:lnTo>
                  <a:lnTo>
                    <a:pt x="273788" y="327715"/>
                  </a:lnTo>
                  <a:lnTo>
                    <a:pt x="230343" y="345444"/>
                  </a:lnTo>
                  <a:lnTo>
                    <a:pt x="181991" y="351726"/>
                  </a:lnTo>
                  <a:lnTo>
                    <a:pt x="133629" y="345444"/>
                  </a:lnTo>
                  <a:lnTo>
                    <a:pt x="90160" y="327715"/>
                  </a:lnTo>
                  <a:lnTo>
                    <a:pt x="53324" y="300216"/>
                  </a:lnTo>
                  <a:lnTo>
                    <a:pt x="24859" y="264625"/>
                  </a:lnTo>
                  <a:lnTo>
                    <a:pt x="6504" y="222617"/>
                  </a:lnTo>
                  <a:lnTo>
                    <a:pt x="0" y="175869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" name="object 21"/>
          <p:cNvGrpSpPr/>
          <p:nvPr/>
        </p:nvGrpSpPr>
        <p:grpSpPr>
          <a:xfrm>
            <a:off x="4465065" y="4007611"/>
            <a:ext cx="383540" cy="371475"/>
            <a:chOff x="4465065" y="4007611"/>
            <a:chExt cx="383540" cy="371475"/>
          </a:xfrm>
        </p:grpSpPr>
        <p:sp>
          <p:nvSpPr>
            <p:cNvPr id="22" name="object 22"/>
            <p:cNvSpPr/>
            <p:nvPr/>
          </p:nvSpPr>
          <p:spPr>
            <a:xfrm>
              <a:off x="4471415" y="4013961"/>
              <a:ext cx="370840" cy="358775"/>
            </a:xfrm>
            <a:custGeom>
              <a:avLst/>
              <a:gdLst/>
              <a:ahLst/>
              <a:cxnLst/>
              <a:rect l="l" t="t" r="r" b="b"/>
              <a:pathLst>
                <a:path w="370839" h="358775">
                  <a:moveTo>
                    <a:pt x="185420" y="0"/>
                  </a:moveTo>
                  <a:lnTo>
                    <a:pt x="136142" y="6394"/>
                  </a:lnTo>
                  <a:lnTo>
                    <a:pt x="91853" y="24445"/>
                  </a:lnTo>
                  <a:lnTo>
                    <a:pt x="54324" y="52450"/>
                  </a:lnTo>
                  <a:lnTo>
                    <a:pt x="25324" y="88711"/>
                  </a:lnTo>
                  <a:lnTo>
                    <a:pt x="6626" y="131527"/>
                  </a:lnTo>
                  <a:lnTo>
                    <a:pt x="0" y="179196"/>
                  </a:lnTo>
                  <a:lnTo>
                    <a:pt x="6626" y="226822"/>
                  </a:lnTo>
                  <a:lnTo>
                    <a:pt x="25324" y="269625"/>
                  </a:lnTo>
                  <a:lnTo>
                    <a:pt x="54324" y="305895"/>
                  </a:lnTo>
                  <a:lnTo>
                    <a:pt x="91853" y="333920"/>
                  </a:lnTo>
                  <a:lnTo>
                    <a:pt x="136142" y="351990"/>
                  </a:lnTo>
                  <a:lnTo>
                    <a:pt x="185420" y="358394"/>
                  </a:lnTo>
                  <a:lnTo>
                    <a:pt x="234697" y="351990"/>
                  </a:lnTo>
                  <a:lnTo>
                    <a:pt x="278986" y="333920"/>
                  </a:lnTo>
                  <a:lnTo>
                    <a:pt x="316515" y="305895"/>
                  </a:lnTo>
                  <a:lnTo>
                    <a:pt x="345515" y="269625"/>
                  </a:lnTo>
                  <a:lnTo>
                    <a:pt x="364213" y="226822"/>
                  </a:lnTo>
                  <a:lnTo>
                    <a:pt x="370839" y="179196"/>
                  </a:lnTo>
                  <a:lnTo>
                    <a:pt x="364213" y="131527"/>
                  </a:lnTo>
                  <a:lnTo>
                    <a:pt x="345515" y="88711"/>
                  </a:lnTo>
                  <a:lnTo>
                    <a:pt x="316515" y="52450"/>
                  </a:lnTo>
                  <a:lnTo>
                    <a:pt x="278986" y="24445"/>
                  </a:lnTo>
                  <a:lnTo>
                    <a:pt x="234697" y="6394"/>
                  </a:lnTo>
                  <a:lnTo>
                    <a:pt x="1854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471415" y="4013961"/>
              <a:ext cx="370840" cy="358775"/>
            </a:xfrm>
            <a:custGeom>
              <a:avLst/>
              <a:gdLst/>
              <a:ahLst/>
              <a:cxnLst/>
              <a:rect l="l" t="t" r="r" b="b"/>
              <a:pathLst>
                <a:path w="370839" h="358775">
                  <a:moveTo>
                    <a:pt x="0" y="179196"/>
                  </a:moveTo>
                  <a:lnTo>
                    <a:pt x="6626" y="131527"/>
                  </a:lnTo>
                  <a:lnTo>
                    <a:pt x="25324" y="88711"/>
                  </a:lnTo>
                  <a:lnTo>
                    <a:pt x="54324" y="52450"/>
                  </a:lnTo>
                  <a:lnTo>
                    <a:pt x="91853" y="24445"/>
                  </a:lnTo>
                  <a:lnTo>
                    <a:pt x="136142" y="6394"/>
                  </a:lnTo>
                  <a:lnTo>
                    <a:pt x="185420" y="0"/>
                  </a:lnTo>
                  <a:lnTo>
                    <a:pt x="234697" y="6394"/>
                  </a:lnTo>
                  <a:lnTo>
                    <a:pt x="278986" y="24445"/>
                  </a:lnTo>
                  <a:lnTo>
                    <a:pt x="316515" y="52450"/>
                  </a:lnTo>
                  <a:lnTo>
                    <a:pt x="345515" y="88711"/>
                  </a:lnTo>
                  <a:lnTo>
                    <a:pt x="364213" y="131527"/>
                  </a:lnTo>
                  <a:lnTo>
                    <a:pt x="370839" y="179196"/>
                  </a:lnTo>
                  <a:lnTo>
                    <a:pt x="364213" y="226822"/>
                  </a:lnTo>
                  <a:lnTo>
                    <a:pt x="345515" y="269625"/>
                  </a:lnTo>
                  <a:lnTo>
                    <a:pt x="316515" y="305895"/>
                  </a:lnTo>
                  <a:lnTo>
                    <a:pt x="278986" y="333920"/>
                  </a:lnTo>
                  <a:lnTo>
                    <a:pt x="234697" y="351990"/>
                  </a:lnTo>
                  <a:lnTo>
                    <a:pt x="185420" y="358394"/>
                  </a:lnTo>
                  <a:lnTo>
                    <a:pt x="136142" y="351990"/>
                  </a:lnTo>
                  <a:lnTo>
                    <a:pt x="91853" y="333920"/>
                  </a:lnTo>
                  <a:lnTo>
                    <a:pt x="54324" y="305895"/>
                  </a:lnTo>
                  <a:lnTo>
                    <a:pt x="25324" y="269625"/>
                  </a:lnTo>
                  <a:lnTo>
                    <a:pt x="6626" y="226822"/>
                  </a:lnTo>
                  <a:lnTo>
                    <a:pt x="0" y="179196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" name="object 24"/>
          <p:cNvGrpSpPr/>
          <p:nvPr/>
        </p:nvGrpSpPr>
        <p:grpSpPr>
          <a:xfrm>
            <a:off x="6427215" y="4007611"/>
            <a:ext cx="376555" cy="364490"/>
            <a:chOff x="6427215" y="4007611"/>
            <a:chExt cx="376555" cy="364490"/>
          </a:xfrm>
        </p:grpSpPr>
        <p:sp>
          <p:nvSpPr>
            <p:cNvPr id="25" name="object 25"/>
            <p:cNvSpPr/>
            <p:nvPr/>
          </p:nvSpPr>
          <p:spPr>
            <a:xfrm>
              <a:off x="6433565" y="4013961"/>
              <a:ext cx="363855" cy="351790"/>
            </a:xfrm>
            <a:custGeom>
              <a:avLst/>
              <a:gdLst/>
              <a:ahLst/>
              <a:cxnLst/>
              <a:rect l="l" t="t" r="r" b="b"/>
              <a:pathLst>
                <a:path w="363854" h="351789">
                  <a:moveTo>
                    <a:pt x="181863" y="0"/>
                  </a:moveTo>
                  <a:lnTo>
                    <a:pt x="133511" y="6281"/>
                  </a:lnTo>
                  <a:lnTo>
                    <a:pt x="90066" y="24007"/>
                  </a:lnTo>
                  <a:lnTo>
                    <a:pt x="53260" y="51498"/>
                  </a:lnTo>
                  <a:lnTo>
                    <a:pt x="24826" y="87074"/>
                  </a:lnTo>
                  <a:lnTo>
                    <a:pt x="6495" y="129057"/>
                  </a:lnTo>
                  <a:lnTo>
                    <a:pt x="0" y="175768"/>
                  </a:lnTo>
                  <a:lnTo>
                    <a:pt x="6495" y="222531"/>
                  </a:lnTo>
                  <a:lnTo>
                    <a:pt x="24826" y="264550"/>
                  </a:lnTo>
                  <a:lnTo>
                    <a:pt x="53260" y="300148"/>
                  </a:lnTo>
                  <a:lnTo>
                    <a:pt x="90066" y="327650"/>
                  </a:lnTo>
                  <a:lnTo>
                    <a:pt x="133511" y="345380"/>
                  </a:lnTo>
                  <a:lnTo>
                    <a:pt x="181863" y="351663"/>
                  </a:lnTo>
                  <a:lnTo>
                    <a:pt x="230269" y="345380"/>
                  </a:lnTo>
                  <a:lnTo>
                    <a:pt x="273750" y="327650"/>
                  </a:lnTo>
                  <a:lnTo>
                    <a:pt x="310578" y="300148"/>
                  </a:lnTo>
                  <a:lnTo>
                    <a:pt x="339024" y="264550"/>
                  </a:lnTo>
                  <a:lnTo>
                    <a:pt x="357359" y="222531"/>
                  </a:lnTo>
                  <a:lnTo>
                    <a:pt x="363855" y="175768"/>
                  </a:lnTo>
                  <a:lnTo>
                    <a:pt x="357359" y="129057"/>
                  </a:lnTo>
                  <a:lnTo>
                    <a:pt x="339024" y="87074"/>
                  </a:lnTo>
                  <a:lnTo>
                    <a:pt x="310578" y="51498"/>
                  </a:lnTo>
                  <a:lnTo>
                    <a:pt x="273750" y="24007"/>
                  </a:lnTo>
                  <a:lnTo>
                    <a:pt x="230269" y="6281"/>
                  </a:lnTo>
                  <a:lnTo>
                    <a:pt x="18186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433565" y="4013961"/>
              <a:ext cx="363855" cy="351790"/>
            </a:xfrm>
            <a:custGeom>
              <a:avLst/>
              <a:gdLst/>
              <a:ahLst/>
              <a:cxnLst/>
              <a:rect l="l" t="t" r="r" b="b"/>
              <a:pathLst>
                <a:path w="363854" h="351789">
                  <a:moveTo>
                    <a:pt x="0" y="175768"/>
                  </a:moveTo>
                  <a:lnTo>
                    <a:pt x="6495" y="129057"/>
                  </a:lnTo>
                  <a:lnTo>
                    <a:pt x="24826" y="87074"/>
                  </a:lnTo>
                  <a:lnTo>
                    <a:pt x="53260" y="51498"/>
                  </a:lnTo>
                  <a:lnTo>
                    <a:pt x="90066" y="24007"/>
                  </a:lnTo>
                  <a:lnTo>
                    <a:pt x="133511" y="6281"/>
                  </a:lnTo>
                  <a:lnTo>
                    <a:pt x="181863" y="0"/>
                  </a:lnTo>
                  <a:lnTo>
                    <a:pt x="230269" y="6281"/>
                  </a:lnTo>
                  <a:lnTo>
                    <a:pt x="273750" y="24007"/>
                  </a:lnTo>
                  <a:lnTo>
                    <a:pt x="310578" y="51498"/>
                  </a:lnTo>
                  <a:lnTo>
                    <a:pt x="339024" y="87074"/>
                  </a:lnTo>
                  <a:lnTo>
                    <a:pt x="357359" y="129057"/>
                  </a:lnTo>
                  <a:lnTo>
                    <a:pt x="363855" y="175768"/>
                  </a:lnTo>
                  <a:lnTo>
                    <a:pt x="357359" y="222531"/>
                  </a:lnTo>
                  <a:lnTo>
                    <a:pt x="339024" y="264550"/>
                  </a:lnTo>
                  <a:lnTo>
                    <a:pt x="310578" y="300148"/>
                  </a:lnTo>
                  <a:lnTo>
                    <a:pt x="273750" y="327650"/>
                  </a:lnTo>
                  <a:lnTo>
                    <a:pt x="230269" y="345380"/>
                  </a:lnTo>
                  <a:lnTo>
                    <a:pt x="181863" y="351663"/>
                  </a:lnTo>
                  <a:lnTo>
                    <a:pt x="133511" y="345380"/>
                  </a:lnTo>
                  <a:lnTo>
                    <a:pt x="90066" y="327650"/>
                  </a:lnTo>
                  <a:lnTo>
                    <a:pt x="53260" y="300148"/>
                  </a:lnTo>
                  <a:lnTo>
                    <a:pt x="24826" y="264550"/>
                  </a:lnTo>
                  <a:lnTo>
                    <a:pt x="6495" y="222531"/>
                  </a:lnTo>
                  <a:lnTo>
                    <a:pt x="0" y="175768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7" name="object 2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49039" y="2023236"/>
            <a:ext cx="4031361" cy="1831594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493890" y="4067403"/>
            <a:ext cx="243230" cy="243230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519929" y="4067518"/>
            <a:ext cx="273723" cy="273723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118727" y="6200533"/>
            <a:ext cx="183324" cy="183324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075926" y="6220015"/>
            <a:ext cx="219468" cy="219468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583801" y="6168948"/>
            <a:ext cx="214909" cy="214909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601456" y="6156210"/>
            <a:ext cx="260692" cy="260692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866255" y="4051427"/>
            <a:ext cx="1250416" cy="222504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978019" y="4055948"/>
            <a:ext cx="1103934" cy="22280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14057</TotalTime>
  <Words>5402</Words>
  <Application>Microsoft Office PowerPoint</Application>
  <PresentationFormat>Panorámica</PresentationFormat>
  <Paragraphs>431</Paragraphs>
  <Slides>28</Slides>
  <Notes>26</Notes>
  <HiddenSlides>0</HiddenSlides>
  <MMClips>0</MMClips>
  <ScaleCrop>false</ScaleCrop>
  <HeadingPairs>
    <vt:vector size="8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28</vt:i4>
      </vt:variant>
    </vt:vector>
  </HeadingPairs>
  <TitlesOfParts>
    <vt:vector size="34" baseType="lpstr">
      <vt:lpstr>Aptos</vt:lpstr>
      <vt:lpstr>Arial</vt:lpstr>
      <vt:lpstr>Calibri</vt:lpstr>
      <vt:lpstr>Wingdings</vt:lpstr>
      <vt:lpstr>Office Theme</vt:lpstr>
      <vt:lpstr>Acrobat Document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Javier Granado Fornas</dc:creator>
  <cp:lastModifiedBy>Javier Granado Fornas</cp:lastModifiedBy>
  <cp:revision>12</cp:revision>
  <dcterms:created xsi:type="dcterms:W3CDTF">2025-09-03T07:16:58Z</dcterms:created>
  <dcterms:modified xsi:type="dcterms:W3CDTF">2025-09-25T10:43:42Z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2025-05-28T00:00:00Z</vt:filetime>
  </property>
  <property fmtid="{D5CDD505-2E9C-101B-9397-08002B2CF9AE}" pid="3" name="Creator">
    <vt:lpwstr>Microsoft® PowerPoint® para Microsoft 365</vt:lpwstr>
  </property>
  <property fmtid="{D5CDD505-2E9C-101B-9397-08002B2CF9AE}" pid="4" name="LastSaved">
    <vt:filetime>2025-09-03T00:00:00Z</vt:filetime>
  </property>
  <property fmtid="{D5CDD505-2E9C-101B-9397-08002B2CF9AE}" pid="5" name="Producer">
    <vt:lpwstr>Microsoft® PowerPoint® para Microsoft 365</vt:lpwstr>
  </property>
</Properties>
</file>